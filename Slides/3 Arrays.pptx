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7" r:id="rId2"/>
    <p:sldId id="1311" r:id="rId3"/>
    <p:sldId id="1312" r:id="rId4"/>
    <p:sldId id="1313" r:id="rId5"/>
    <p:sldId id="1314" r:id="rId6"/>
    <p:sldId id="1315" r:id="rId7"/>
    <p:sldId id="1316" r:id="rId8"/>
    <p:sldId id="1317" r:id="rId9"/>
    <p:sldId id="1318" r:id="rId10"/>
    <p:sldId id="1319" r:id="rId11"/>
    <p:sldId id="1320" r:id="rId12"/>
    <p:sldId id="1321" r:id="rId13"/>
    <p:sldId id="1322" r:id="rId14"/>
    <p:sldId id="1323" r:id="rId15"/>
    <p:sldId id="1324" r:id="rId16"/>
    <p:sldId id="1325" r:id="rId17"/>
    <p:sldId id="1326" r:id="rId18"/>
    <p:sldId id="1327" r:id="rId19"/>
    <p:sldId id="1328" r:id="rId20"/>
    <p:sldId id="1329" r:id="rId21"/>
    <p:sldId id="1330" r:id="rId22"/>
    <p:sldId id="1331" r:id="rId23"/>
    <p:sldId id="1332" r:id="rId24"/>
    <p:sldId id="1333" r:id="rId25"/>
    <p:sldId id="1334" r:id="rId26"/>
    <p:sldId id="1335" r:id="rId27"/>
    <p:sldId id="1336" r:id="rId28"/>
    <p:sldId id="1337" r:id="rId29"/>
    <p:sldId id="1338" r:id="rId30"/>
    <p:sldId id="1339" r:id="rId31"/>
    <p:sldId id="1340" r:id="rId32"/>
    <p:sldId id="1341" r:id="rId33"/>
    <p:sldId id="1342" r:id="rId34"/>
    <p:sldId id="1343" r:id="rId35"/>
    <p:sldId id="1344" r:id="rId36"/>
    <p:sldId id="1345" r:id="rId37"/>
    <p:sldId id="1346" r:id="rId38"/>
    <p:sldId id="1347" r:id="rId39"/>
    <p:sldId id="1348" r:id="rId40"/>
    <p:sldId id="1349" r:id="rId41"/>
    <p:sldId id="1350" r:id="rId42"/>
    <p:sldId id="1351" r:id="rId43"/>
    <p:sldId id="1352" r:id="rId44"/>
    <p:sldId id="1353" r:id="rId45"/>
    <p:sldId id="131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86072" autoAdjust="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5D430B-9103-41AC-9C46-9389768018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C40D0-1BEF-497D-9B7D-1B411C08AC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05A6D-0304-4A79-AA38-5313A5D7B89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F851F-BDD8-4C9C-85E2-BD54A9BB77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86BB9-C89B-425C-B7CF-B72BC8B77A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73CAE-E154-4F95-B6A2-112072D2D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092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D1E4D-481E-4B7F-BF08-34B3E3B8B6B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E04C5-1AD6-4988-801F-A2CA2774D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6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2DDCDBD7-96EA-4F50-A803-9E1B5ADF6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8939C58C-7A32-4947-918F-CEF82CC5A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03B8912-9F81-41C3-9FBC-3605D3005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E672888-03EF-4C67-A8C8-7633F664C2C8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ea typeface="新細明體" pitchFamily="18" charset="-120"/>
              </a:rPr>
              <a:t>Int a = 5;</a:t>
            </a:r>
          </a:p>
          <a:p>
            <a:r>
              <a:rPr lang="en-US" altLang="en-US" smtClean="0">
                <a:ea typeface="新細明體" pitchFamily="18" charset="-120"/>
              </a:rPr>
              <a:t>Int a[60]; Data type, name then size of the array</a:t>
            </a:r>
          </a:p>
          <a:p>
            <a:r>
              <a:rPr lang="en-US" altLang="en-US" smtClean="0">
                <a:ea typeface="新細明體" pitchFamily="18" charset="-120"/>
              </a:rPr>
              <a:t>Same data type but rather then storing one value we will be like to store 60 values</a:t>
            </a:r>
          </a:p>
          <a:p>
            <a:r>
              <a:rPr lang="en-US" altLang="en-US" smtClean="0">
                <a:ea typeface="新細明體" pitchFamily="18" charset="-120"/>
              </a:rPr>
              <a:t>How to tell the computer you are storing 60 values and how to give the size of your array</a:t>
            </a:r>
          </a:p>
        </p:txBody>
      </p:sp>
      <p:sp>
        <p:nvSpPr>
          <p:cNvPr id="5427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99601140-538B-4D32-AEA9-A9E4717FC857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09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ea typeface="新細明體" pitchFamily="18" charset="-120"/>
              </a:rPr>
              <a:t>In computer science, an </a:t>
            </a:r>
            <a:r>
              <a:rPr lang="en-US" altLang="en-US" b="1" smtClean="0">
                <a:ea typeface="新細明體" pitchFamily="18" charset="-120"/>
              </a:rPr>
              <a:t>offset</a:t>
            </a:r>
            <a:r>
              <a:rPr lang="en-US" altLang="en-US" smtClean="0">
                <a:ea typeface="新細明體" pitchFamily="18" charset="-120"/>
              </a:rPr>
              <a:t> within an array or other data structure object is an integer indicating the distance (displacement) between the beginning of the object and a given element or point, presumably within the same object. ... The </a:t>
            </a:r>
            <a:r>
              <a:rPr lang="en-US" altLang="en-US" b="1" smtClean="0">
                <a:ea typeface="新細明體" pitchFamily="18" charset="-120"/>
              </a:rPr>
              <a:t>offset</a:t>
            </a:r>
            <a:r>
              <a:rPr lang="en-US" altLang="en-US" smtClean="0">
                <a:ea typeface="新細明體" pitchFamily="18" charset="-120"/>
              </a:rPr>
              <a:t> is the first </a:t>
            </a:r>
            <a:r>
              <a:rPr lang="en-US" altLang="en-US" b="1" smtClean="0">
                <a:ea typeface="新細明體" pitchFamily="18" charset="-120"/>
              </a:rPr>
              <a:t>index</a:t>
            </a:r>
            <a:r>
              <a:rPr lang="en-US" altLang="en-US" smtClean="0">
                <a:ea typeface="新細明體" pitchFamily="18" charset="-120"/>
              </a:rPr>
              <a:t> of the storage that is used.</a:t>
            </a:r>
          </a:p>
        </p:txBody>
      </p:sp>
      <p:sp>
        <p:nvSpPr>
          <p:cNvPr id="5632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5F128071-C035-4241-99BF-E5EE1ACF5D49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090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ea typeface="新細明體" pitchFamily="18" charset="-120"/>
              </a:rPr>
              <a:t>Array is a fixed size sequenced collection of data items of same data type</a:t>
            </a:r>
          </a:p>
          <a:p>
            <a:r>
              <a:rPr lang="en-US" altLang="en-US" smtClean="0">
                <a:ea typeface="新細明體" pitchFamily="18" charset="-120"/>
              </a:rPr>
              <a:t>Access a particular element arrayname[index]</a:t>
            </a:r>
          </a:p>
          <a:p>
            <a:r>
              <a:rPr lang="en-US" altLang="en-US" smtClean="0">
                <a:ea typeface="新細明體" pitchFamily="18" charset="-120"/>
              </a:rPr>
              <a:t>Data items are stored in continuous locations</a:t>
            </a:r>
          </a:p>
          <a:p>
            <a:r>
              <a:rPr lang="en-US" altLang="en-US" smtClean="0">
                <a:ea typeface="新細明體" pitchFamily="18" charset="-120"/>
              </a:rPr>
              <a:t>Random access taking constant time</a:t>
            </a:r>
          </a:p>
          <a:p>
            <a:r>
              <a:rPr lang="en-US" altLang="en-US" smtClean="0">
                <a:ea typeface="新細明體" pitchFamily="18" charset="-120"/>
              </a:rPr>
              <a:t>Array types 1D, 2D, Multi dimensional</a:t>
            </a:r>
          </a:p>
          <a:p>
            <a:endParaRPr lang="en-US" altLang="en-US" smtClean="0">
              <a:ea typeface="新細明體" pitchFamily="18" charset="-120"/>
            </a:endParaRPr>
          </a:p>
        </p:txBody>
      </p:sp>
      <p:sp>
        <p:nvSpPr>
          <p:cNvPr id="5939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2F3A79A3-7C33-4EBC-BE53-999985819A15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60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新細明體" pitchFamily="18" charset="-120"/>
            </a:endParaRPr>
          </a:p>
        </p:txBody>
      </p:sp>
      <p:sp>
        <p:nvSpPr>
          <p:cNvPr id="6451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DCDA2A80-9CD4-40FF-8DF5-DC3EF53653C6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912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DC9E0EF-6232-4911-A7AD-3276E481CE64}" type="slidenum">
              <a:rPr lang="en-US" altLang="en-US"/>
              <a:pPr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66563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en-US" smtClean="0">
                <a:ea typeface="新細明體" pitchFamily="18" charset="-120"/>
              </a:rPr>
              <a:t>no.. of bytes reserved= size*(no. of bytes for that data type)</a:t>
            </a:r>
          </a:p>
        </p:txBody>
      </p:sp>
    </p:spTree>
    <p:extLst>
      <p:ext uri="{BB962C8B-B14F-4D97-AF65-F5344CB8AC3E}">
        <p14:creationId xmlns:p14="http://schemas.microsoft.com/office/powerpoint/2010/main" val="2355383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E1B42B3-E9C6-42BD-A376-AA5278933C22}" type="slidenum">
              <a:rPr lang="en-US" altLang="en-US"/>
              <a:pPr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71683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4" name="Rectangle 3"/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en-US" smtClean="0">
                <a:ea typeface="新細明體" pitchFamily="18" charset="-120"/>
              </a:rPr>
              <a:t>Advantage: can simply change value of constant in one place and it gets replaced throughout code. Also, compiler catches if accidentally try to change its value anywhere in code e.g. if(NUM_EMPLOYEES = x); instead of if(NUM_EMPLOYEES == x).</a:t>
            </a:r>
          </a:p>
        </p:txBody>
      </p:sp>
    </p:spTree>
    <p:extLst>
      <p:ext uri="{BB962C8B-B14F-4D97-AF65-F5344CB8AC3E}">
        <p14:creationId xmlns:p14="http://schemas.microsoft.com/office/powerpoint/2010/main" val="3707355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33CE8C91-9893-4E07-852D-170D337DED13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574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369526CF-C8AC-4A7C-8D9A-2BCD97B9271A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15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0324-9583-4931-B301-22FE45197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5CD17-CF46-4C89-93F3-0E01AB19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B69A7-91FA-4C72-8F87-893FA867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867AB-E02D-43BA-A5A1-9FDAF6CB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08AA-1A84-4BA7-BD94-37D3C8F4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3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D910-D9BF-4208-8BC4-9AC7DB39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6525-931B-4057-AE91-62FCE36E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8ED9E-30BE-4DFA-A93D-8900BB59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37BC-2661-4EB1-968A-49E4A46B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590E4-67F3-4FE5-A098-2101C739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AFD3-672C-4BF9-8930-5F44559E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A1EBB-625D-4773-A80B-F635E090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28B84-2AB6-4B56-959E-7BC8E6F6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2ACB-6193-404D-ADFA-F4B81941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BBDD-A0B1-45C4-B75B-76297414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8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6069-56B3-4FC6-8EE4-C28CEA21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F3F5-ECA2-4F70-B814-C8115D265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BF04-BCEA-41A7-8A8C-2BCFE56F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934DB-4059-42F1-86AC-F411773F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3F1A4-29CE-4385-94AA-77451DE6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5AEF9-F781-449F-87DA-70B49DD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1D2D-3BD3-47B4-AD78-6D25285A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9DA15-C772-4608-9B44-8BCD7D713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6A88F-93C7-4913-B4EA-C0F984F82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7CEC7-8CCF-4112-BD7F-1D6A5864B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797A5-B9F4-490C-8351-E0CF9F8AB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000BE-87D9-45D5-B739-2A268CBB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9005F-90B1-4BFC-8192-00C58B8F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99AE8-AC33-4EF1-849C-0D5CE272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5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1947-1E8B-4E92-A609-FBD5E84E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D9989-0646-446B-ADA1-1618098B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BEC44-CD14-440B-BB85-3BE409A7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AAC0C-7F9F-433C-B73B-DBA81B92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9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61185-5E71-4386-8B21-FCC2FBB8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FFC38-AC0B-477B-92CB-823D45A6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7B7ED-B011-43A5-81DA-79798E23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3D34-D1AA-4E81-88C0-24A9A23B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C757-37B5-495F-8785-D59FBAA6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49C64-2140-474C-850C-48C5C2C6E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CE6C3-F24C-45ED-92C5-C694EE2B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A1362-A5D0-4298-9A73-5427D2B2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C8A6-CA99-4487-A4A3-D6A9CE2F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6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95E6-F4AF-49CD-A1C9-075A0FA7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1823-2673-4013-AE1B-BD24C633B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65020-2446-4902-A6D5-BEF67B64E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36CF2-E592-42BE-92F1-6EA2A88C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4EA11-76F2-4453-89C9-DD160916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F59D3-4C3F-4355-A488-E501C9D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7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0C8E-4F9C-4817-898B-0F1BA7BA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69786-5FD1-45FA-B842-25724B2A3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69C04-49C1-45EA-BE6B-5A6922DA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588E-C084-4B96-ACA7-1F919721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BEC1-516C-4124-8DDA-CA2E1AC6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4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89BD9-B30F-4C26-BCA4-83A0B0472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7142A-C50D-46EC-85FF-B0CAD94AE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B10D6-0E33-4FC7-849D-A4209857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0316-D7EC-4FC9-8D29-690B81F9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3A542-BEAC-4AAE-A646-2B9F19D1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89E64-E808-411E-B8B8-5139C250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06DA0-C6FC-48D4-9DFC-223B660F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DA12-10E7-47B9-AA62-46B2A4A8C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3E3C1-5F85-443D-9CDD-0C6B8108F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CD8B9-DB2A-4218-B14B-14F5AE96B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E1FB9-FDF9-4AC9-ABFA-D027DF39DF3D}"/>
              </a:ext>
            </a:extLst>
          </p:cNvPr>
          <p:cNvSpPr/>
          <p:nvPr userDrawn="1"/>
        </p:nvSpPr>
        <p:spPr>
          <a:xfrm>
            <a:off x="0" y="6547876"/>
            <a:ext cx="12192000" cy="31908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72819-C542-48BA-9CFB-AEEEC59CB872}"/>
              </a:ext>
            </a:extLst>
          </p:cNvPr>
          <p:cNvSpPr txBox="1"/>
          <p:nvPr userDrawn="1"/>
        </p:nvSpPr>
        <p:spPr>
          <a:xfrm>
            <a:off x="10085293" y="6538912"/>
            <a:ext cx="2106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By: Dr. Mudassar Raza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C1A7F-191D-49CE-8BD1-83C425E9F6D3}"/>
              </a:ext>
            </a:extLst>
          </p:cNvPr>
          <p:cNvSpPr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542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7D151-7439-41F2-9610-544F3CB8A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169" y="4715043"/>
            <a:ext cx="4023359" cy="1464106"/>
          </a:xfrm>
        </p:spPr>
        <p:txBody>
          <a:bodyPr>
            <a:normAutofit fontScale="92500" lnSpcReduction="20000"/>
          </a:bodyPr>
          <a:lstStyle/>
          <a:p>
            <a:pPr algn="l" eaLnBrk="1" hangingPunct="1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 eaLnBrk="1" hangingPunct="1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Mudassar Raza</a:t>
            </a:r>
          </a:p>
          <a:p>
            <a:pPr algn="l" eaLnBrk="1" hangingPunct="1">
              <a:defRPr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l" eaLnBrk="1" hangingPunct="1">
              <a:defRPr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Mianwali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A56F92-5290-4838-9496-0B9D25C039EF}"/>
              </a:ext>
            </a:extLst>
          </p:cNvPr>
          <p:cNvSpPr txBox="1">
            <a:spLocks/>
          </p:cNvSpPr>
          <p:nvPr/>
        </p:nvSpPr>
        <p:spPr bwMode="auto">
          <a:xfrm>
            <a:off x="458169" y="2716047"/>
            <a:ext cx="3932046" cy="208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9FC251-4B63-4D0A-B60F-5CCBA45AC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246" y="1316404"/>
            <a:ext cx="4023360" cy="1373747"/>
          </a:xfrm>
        </p:spPr>
        <p:txBody>
          <a:bodyPr anchor="b">
            <a:normAutofit fontScale="90000"/>
          </a:bodyPr>
          <a:lstStyle/>
          <a:p>
            <a:pPr>
              <a:defRPr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1"/>
            <a:ext cx="7772400" cy="792163"/>
          </a:xfrm>
        </p:spPr>
        <p:txBody>
          <a:bodyPr/>
          <a:lstStyle/>
          <a:p>
            <a:pPr eaLnBrk="1" hangingPunct="1"/>
            <a:r>
              <a:rPr lang="en-US" altLang="en-US" smtClean="0"/>
              <a:t>Arrays in Data Structure</a:t>
            </a:r>
            <a:endParaRPr lang="en-US" altLang="en-US" smtClean="0">
              <a:cs typeface="Times New Roman" panose="02020603050405020304" pitchFamily="18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101726"/>
            <a:ext cx="8686800" cy="5070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An array is a collection of more then one data items or elements of </a:t>
            </a:r>
            <a:r>
              <a:rPr lang="en-US" altLang="en-US">
                <a:solidFill>
                  <a:srgbClr val="FF0000"/>
                </a:solidFill>
                <a:cs typeface="Times New Roman" panose="02020603050405020304" pitchFamily="18" charset="0"/>
              </a:rPr>
              <a:t>same datatype </a:t>
            </a:r>
            <a:r>
              <a:rPr lang="en-US" altLang="en-US">
                <a:cs typeface="Times New Roman" panose="02020603050405020304" pitchFamily="18" charset="0"/>
              </a:rPr>
              <a:t>in contiguous memory (one after another) e.g. </a:t>
            </a:r>
            <a:r>
              <a:rPr lang="en-US" altLang="en-US" sz="2000">
                <a:cs typeface="Times New Roman" panose="02020603050405020304" pitchFamily="18" charset="0"/>
              </a:rPr>
              <a:t>list of names, list of scores</a:t>
            </a:r>
            <a:endParaRPr lang="en-US" altLang="en-US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Easier way to compare and use data than having separate variables for data elements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i="1">
                <a:cs typeface="Times New Roman" panose="02020603050405020304" pitchFamily="18" charset="0"/>
              </a:rPr>
              <a:t>data_type</a:t>
            </a:r>
            <a:r>
              <a:rPr lang="en-US" altLang="en-US" b="1">
                <a:cs typeface="Times New Roman" panose="02020603050405020304" pitchFamily="18" charset="0"/>
              </a:rPr>
              <a:t> identifier[</a:t>
            </a:r>
            <a:r>
              <a:rPr lang="en-US" altLang="en-US" b="1" i="1">
                <a:cs typeface="Times New Roman" panose="02020603050405020304" pitchFamily="18" charset="0"/>
              </a:rPr>
              <a:t>size</a:t>
            </a:r>
            <a:r>
              <a:rPr lang="en-US" altLang="en-US" b="1"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int arr[3]</a:t>
            </a:r>
            <a:endParaRPr lang="en-US" altLang="en-US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declares a one-dimensional array named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with space for 3 integer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Variables contiguous in memory; lowest address has first value, next address has second variable value, and so on</a:t>
            </a:r>
            <a:endParaRPr lang="en-US" altLang="en-US" i="1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0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2362200" y="3429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rgbClr val="0000CC"/>
                </a:solidFill>
                <a:latin typeface="Times New Roman" panose="02020603050405020304" pitchFamily="18" charset="0"/>
              </a:rPr>
              <a:t>Arrays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2286000" y="14478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An array is an indexed data structure 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An array stores a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collection</a:t>
            </a:r>
            <a:r>
              <a:rPr lang="en-US" altLang="en-US" sz="2800">
                <a:latin typeface="Times New Roman" panose="02020603050405020304" pitchFamily="18" charset="0"/>
              </a:rPr>
              <a:t> of variables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All variables stored in an array are of the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same data type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An individual variable within an array is called an </a:t>
            </a:r>
            <a:r>
              <a:rPr lang="en-US" altLang="en-US" sz="2800" i="1">
                <a:latin typeface="Times New Roman" panose="02020603050405020304" pitchFamily="18" charset="0"/>
              </a:rPr>
              <a:t>element</a:t>
            </a:r>
            <a:r>
              <a:rPr lang="en-US" altLang="en-US" sz="2800">
                <a:latin typeface="Times New Roman" panose="02020603050405020304" pitchFamily="18" charset="0"/>
              </a:rPr>
              <a:t> of the array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An element of an array is accessed </a:t>
            </a: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using the array name and an index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The name of the array is the address of the first element.  The index is the offset </a:t>
            </a:r>
          </a:p>
        </p:txBody>
      </p:sp>
    </p:spTree>
    <p:extLst>
      <p:ext uri="{BB962C8B-B14F-4D97-AF65-F5344CB8AC3E}">
        <p14:creationId xmlns:p14="http://schemas.microsoft.com/office/powerpoint/2010/main" val="65822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2362200" y="3429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Declaring an array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2362200" y="1752600"/>
            <a:ext cx="7772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3200" i="1">
                <a:solidFill>
                  <a:srgbClr val="0000CC"/>
                </a:solidFill>
                <a:latin typeface="Times New Roman" panose="02020603050405020304" pitchFamily="18" charset="0"/>
              </a:rPr>
              <a:t>data</a:t>
            </a: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_</a:t>
            </a:r>
            <a:r>
              <a:rPr lang="en-US" altLang="en-US" sz="3200" i="1">
                <a:solidFill>
                  <a:srgbClr val="0000CC"/>
                </a:solidFill>
                <a:latin typeface="Times New Roman" panose="02020603050405020304" pitchFamily="18" charset="0"/>
              </a:rPr>
              <a:t>type</a:t>
            </a: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i="1">
                <a:solidFill>
                  <a:srgbClr val="0000CC"/>
                </a:solidFill>
                <a:latin typeface="Times New Roman" panose="02020603050405020304" pitchFamily="18" charset="0"/>
              </a:rPr>
              <a:t>array</a:t>
            </a: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_</a:t>
            </a:r>
            <a:r>
              <a:rPr lang="en-US" altLang="en-US" sz="3200" i="1">
                <a:solidFill>
                  <a:srgbClr val="0000CC"/>
                </a:solidFill>
                <a:latin typeface="Times New Roman" panose="02020603050405020304" pitchFamily="18" charset="0"/>
              </a:rPr>
              <a:t>name</a:t>
            </a: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3200" i="1">
                <a:solidFill>
                  <a:srgbClr val="0000CC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];</a:t>
            </a:r>
            <a:endParaRPr lang="en-US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allocates memory for </a:t>
            </a:r>
            <a:r>
              <a:rPr lang="en-US" altLang="en-US" sz="2800" i="1">
                <a:latin typeface="Times New Roman" panose="02020603050405020304" pitchFamily="18" charset="0"/>
              </a:rPr>
              <a:t>size</a:t>
            </a:r>
            <a:r>
              <a:rPr lang="en-US" altLang="en-US" sz="2800">
                <a:latin typeface="Times New Roman" panose="02020603050405020304" pitchFamily="18" charset="0"/>
              </a:rPr>
              <a:t> variables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index of first element is 0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index of last element is size-1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 b="1" i="1">
                <a:solidFill>
                  <a:srgbClr val="CC3300"/>
                </a:solidFill>
                <a:latin typeface="Times New Roman" panose="02020603050405020304" pitchFamily="18" charset="0"/>
              </a:rPr>
              <a:t>size </a:t>
            </a:r>
            <a:r>
              <a:rPr lang="en-US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must be a constant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20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1"/>
            <a:ext cx="7772400" cy="944563"/>
          </a:xfrm>
        </p:spPr>
        <p:txBody>
          <a:bodyPr/>
          <a:lstStyle/>
          <a:p>
            <a:pPr eaLnBrk="1" hangingPunct="1"/>
            <a:r>
              <a:rPr lang="en-US" altLang="en-US" smtClean="0">
                <a:cs typeface="Times New Roman" panose="02020603050405020304" pitchFamily="18" charset="0"/>
              </a:rPr>
              <a:t>Arrays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9906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An individual variable within an array is called an </a:t>
            </a:r>
            <a:r>
              <a:rPr lang="en-US" altLang="en-US" i="1">
                <a:cs typeface="Times New Roman" panose="02020603050405020304" pitchFamily="18" charset="0"/>
              </a:rPr>
              <a:t>element</a:t>
            </a:r>
            <a:r>
              <a:rPr lang="en-US" altLang="en-US">
                <a:cs typeface="Times New Roman" panose="02020603050405020304" pitchFamily="18" charset="0"/>
              </a:rPr>
              <a:t> of the array</a:t>
            </a: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The elements of an array are not named, and are accessed by the array’s name and their position in the array (</a:t>
            </a:r>
            <a:r>
              <a:rPr lang="en-US" altLang="en-US" i="1">
                <a:cs typeface="Times New Roman" panose="02020603050405020304" pitchFamily="18" charset="0"/>
              </a:rPr>
              <a:t>indexing</a:t>
            </a:r>
            <a:r>
              <a:rPr lang="en-US" altLang="en-US"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Index of first element is zero, index of last</a:t>
            </a:r>
            <a:r>
              <a:rPr lang="en-US" altLang="en-US" smtClean="0">
                <a:cs typeface="Times New Roman" panose="02020603050405020304" pitchFamily="18" charset="0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element</a:t>
            </a:r>
            <a:r>
              <a:rPr lang="en-US" altLang="en-US" smtClean="0">
                <a:cs typeface="Times New Roman" panose="02020603050405020304" pitchFamily="18" charset="0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is </a:t>
            </a:r>
            <a:r>
              <a:rPr lang="en-US" altLang="en-US" i="1">
                <a:cs typeface="Times New Roman" panose="02020603050405020304" pitchFamily="18" charset="0"/>
              </a:rPr>
              <a:t>size</a:t>
            </a:r>
            <a:r>
              <a:rPr lang="en-US" altLang="en-US">
                <a:cs typeface="Times New Roman" panose="02020603050405020304" pitchFamily="18" charset="0"/>
              </a:rPr>
              <a:t>-1 e.g.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arr[3]</a:t>
            </a:r>
            <a:r>
              <a:rPr lang="en-US" altLang="en-US">
                <a:cs typeface="Times New Roman" panose="02020603050405020304" pitchFamily="18" charset="0"/>
              </a:rPr>
              <a:t> has variables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arr[0], arr[1]</a:t>
            </a:r>
            <a:r>
              <a:rPr lang="en-US" altLang="en-US"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arr[2]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i="1">
                <a:cs typeface="Times New Roman" panose="02020603050405020304" pitchFamily="18" charset="0"/>
              </a:rPr>
              <a:t>size </a:t>
            </a:r>
            <a:r>
              <a:rPr lang="en-US" altLang="en-US" sz="2400">
                <a:cs typeface="Times New Roman" panose="02020603050405020304" pitchFamily="18" charset="0"/>
              </a:rPr>
              <a:t>has to be a positive constant (not variable)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		i.e. can’t do: 	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x = 3; int arr[x];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		but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>
                <a:cs typeface="Times New Roman" panose="02020603050405020304" pitchFamily="18" charset="0"/>
              </a:rPr>
              <a:t>can do: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	int arr[3 * 2];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Number of bytes reserved with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arr[3];</a:t>
            </a:r>
            <a:r>
              <a:rPr lang="en-US" altLang="en-US" sz="2400">
                <a:cs typeface="Times New Roman" panose="02020603050405020304" pitchFamily="18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75832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2362200" y="3429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Declaring an Array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2286000" y="1600200"/>
            <a:ext cx="7772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Example:  </a:t>
            </a:r>
            <a:r>
              <a:rPr lang="en-US" altLang="en-US" sz="2800" b="1">
                <a:solidFill>
                  <a:srgbClr val="006666"/>
                </a:solidFill>
                <a:latin typeface="Times New Roman" panose="02020603050405020304" pitchFamily="18" charset="0"/>
              </a:rPr>
              <a:t>int list[10];</a:t>
            </a:r>
            <a:endParaRPr lang="en-US" altLang="en-US" sz="28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400">
                <a:latin typeface="Times New Roman" panose="02020603050405020304" pitchFamily="18" charset="0"/>
              </a:rPr>
              <a:t>allocates memory for 10 integer variables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400">
                <a:latin typeface="Times New Roman" panose="02020603050405020304" pitchFamily="18" charset="0"/>
              </a:rPr>
              <a:t>index of first element is 0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400">
                <a:latin typeface="Times New Roman" panose="02020603050405020304" pitchFamily="18" charset="0"/>
              </a:rPr>
              <a:t>index of last element is 9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400" b="1" i="1">
                <a:latin typeface="Times New Roman" panose="02020603050405020304" pitchFamily="18" charset="0"/>
              </a:rPr>
              <a:t>C++ does not perform any bounds checking on arrays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3048000" y="3505200"/>
            <a:ext cx="1143000" cy="2286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4191000" y="3505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list[0]</a:t>
            </a: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4191000" y="3810000"/>
            <a:ext cx="6858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list[1]</a:t>
            </a:r>
            <a:endParaRPr lang="en-US" altLang="en-US" sz="12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4191000" y="5486400"/>
            <a:ext cx="6858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list[9]</a:t>
            </a:r>
            <a:endParaRPr lang="en-US" altLang="en-US" sz="12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24" name="Line 8"/>
          <p:cNvSpPr>
            <a:spLocks noChangeShapeType="1"/>
          </p:cNvSpPr>
          <p:nvPr/>
        </p:nvSpPr>
        <p:spPr bwMode="auto">
          <a:xfrm>
            <a:off x="3048000" y="5105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3048000" y="3733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3048000" y="3962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7" name="Line 11"/>
          <p:cNvSpPr>
            <a:spLocks noChangeShapeType="1"/>
          </p:cNvSpPr>
          <p:nvPr/>
        </p:nvSpPr>
        <p:spPr bwMode="auto">
          <a:xfrm>
            <a:off x="3048000" y="4191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8" name="Line 12"/>
          <p:cNvSpPr>
            <a:spLocks noChangeShapeType="1"/>
          </p:cNvSpPr>
          <p:nvPr/>
        </p:nvSpPr>
        <p:spPr bwMode="auto">
          <a:xfrm>
            <a:off x="3048000" y="4419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9" name="Line 13"/>
          <p:cNvSpPr>
            <a:spLocks noChangeShapeType="1"/>
          </p:cNvSpPr>
          <p:nvPr/>
        </p:nvSpPr>
        <p:spPr bwMode="auto">
          <a:xfrm>
            <a:off x="3048000" y="46482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048000" y="4876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3048000" y="5334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3048000" y="5562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23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Arrays</a:t>
            </a:r>
            <a:r>
              <a:rPr lang="en-US" altLang="en-US" sz="440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943100" y="1143000"/>
            <a:ext cx="8305800" cy="5181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lvl="1" indent="0" eaLnBrk="1" hangingPunct="1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altLang="en-US" sz="3200" dirty="0"/>
              <a:t>Arrays offer convenient means of </a:t>
            </a:r>
            <a:r>
              <a:rPr lang="en-US" altLang="en-US" sz="3200" dirty="0">
                <a:solidFill>
                  <a:srgbClr val="CC3300"/>
                </a:solidFill>
              </a:rPr>
              <a:t>grouping </a:t>
            </a:r>
            <a:r>
              <a:rPr lang="en-US" altLang="en-US" sz="3200" dirty="0"/>
              <a:t>together several related variables</a:t>
            </a:r>
            <a:endParaRPr lang="en-US" altLang="en-US" sz="4400" dirty="0">
              <a:solidFill>
                <a:schemeClr val="tx2"/>
              </a:solidFill>
            </a:endParaRP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altLang="en-US" sz="2800" dirty="0">
                <a:solidFill>
                  <a:srgbClr val="0000CC"/>
                </a:solidFill>
              </a:rPr>
              <a:t>	</a:t>
            </a:r>
            <a:r>
              <a:rPr lang="en-US" altLang="en-US" sz="2800" u="sng" dirty="0">
                <a:solidFill>
                  <a:schemeClr val="tx2"/>
                </a:solidFill>
              </a:rPr>
              <a:t>One- dimensional arrays</a:t>
            </a:r>
            <a:endParaRPr lang="en-US" altLang="en-US" sz="4400" u="sng" dirty="0">
              <a:solidFill>
                <a:schemeClr val="tx2"/>
              </a:solidFill>
            </a:endParaRP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  <a:defRPr/>
            </a:pPr>
            <a:endParaRPr lang="en-US" altLang="en-US" sz="28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	type </a:t>
            </a:r>
            <a:r>
              <a:rPr lang="en-US" altLang="en-US" sz="2800" dirty="0" err="1">
                <a:solidFill>
                  <a:srgbClr val="FF0000"/>
                </a:solidFill>
              </a:rPr>
              <a:t>var_name</a:t>
            </a:r>
            <a:r>
              <a:rPr lang="en-US" altLang="en-US" sz="2800" dirty="0">
                <a:solidFill>
                  <a:srgbClr val="FF0000"/>
                </a:solidFill>
              </a:rPr>
              <a:t>[size]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altLang="en-US" sz="2800" dirty="0"/>
              <a:t>	int sample[10];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altLang="en-US" sz="2800" dirty="0"/>
              <a:t>	double d[30];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altLang="en-US" sz="2800" dirty="0"/>
              <a:t>	char </a:t>
            </a:r>
            <a:r>
              <a:rPr lang="en-US" altLang="en-US" sz="2800" dirty="0" err="1"/>
              <a:t>ch</a:t>
            </a:r>
            <a:r>
              <a:rPr lang="en-US" altLang="en-US" sz="2800" dirty="0"/>
              <a:t>[100];</a:t>
            </a:r>
          </a:p>
        </p:txBody>
      </p:sp>
    </p:spTree>
    <p:extLst>
      <p:ext uri="{BB962C8B-B14F-4D97-AF65-F5344CB8AC3E}">
        <p14:creationId xmlns:p14="http://schemas.microsoft.com/office/powerpoint/2010/main" val="2040163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Arrays in Data Structure</a:t>
            </a:r>
          </a:p>
        </p:txBody>
      </p:sp>
      <p:sp>
        <p:nvSpPr>
          <p:cNvPr id="624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Array can be initialized by two ways; </a:t>
            </a:r>
          </a:p>
          <a:p>
            <a:pPr eaLnBrk="1" hangingPunct="1"/>
            <a:r>
              <a:rPr lang="en-US" altLang="en-US" smtClean="0"/>
              <a:t>One when it is declared (Static initialization)</a:t>
            </a:r>
          </a:p>
          <a:p>
            <a:pPr lvl="1" eaLnBrk="1" hangingPunct="1"/>
            <a:r>
              <a:rPr lang="en-US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int arr[3] = {15, 25, 3};</a:t>
            </a:r>
          </a:p>
          <a:p>
            <a:pPr lvl="1" eaLnBrk="1" hangingPunct="1"/>
            <a:r>
              <a:rPr lang="en-US" altLang="en-US" sz="3200">
                <a:cs typeface="Times New Roman" panose="02020603050405020304" pitchFamily="18" charset="0"/>
              </a:rPr>
              <a:t>Equal or Less not more elements </a:t>
            </a:r>
          </a:p>
          <a:p>
            <a:pPr eaLnBrk="1" hangingPunct="1"/>
            <a:r>
              <a:rPr lang="en-US" altLang="en-US" smtClean="0"/>
              <a:t>Run time initialization</a:t>
            </a:r>
          </a:p>
          <a:p>
            <a:pPr lvl="1" eaLnBrk="1" hangingPunct="1"/>
            <a:r>
              <a:rPr lang="en-US" altLang="en-US" smtClean="0"/>
              <a:t>Using loop or functions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0743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2362200" y="3429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Initializing Arrays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1828800" y="1600200"/>
            <a:ext cx="8610600" cy="45720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defRPr/>
            </a:pPr>
            <a:r>
              <a:rPr lang="en-US" altLang="en-US" sz="3200" dirty="0"/>
              <a:t>Arrays can be initialized at the time they are declared.</a:t>
            </a:r>
          </a:p>
          <a:p>
            <a:pPr eaLnBrk="1" hangingPunct="1">
              <a:spcBef>
                <a:spcPct val="20000"/>
              </a:spcBef>
              <a:defRPr/>
            </a:pPr>
            <a:endParaRPr lang="en-US" altLang="en-US" sz="3200" dirty="0"/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3200" dirty="0"/>
              <a:t>Examples:</a:t>
            </a:r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en-US" b="1" dirty="0"/>
              <a:t>double </a:t>
            </a:r>
            <a:r>
              <a:rPr lang="en-US" altLang="en-US" b="1" dirty="0" err="1"/>
              <a:t>taxrate</a:t>
            </a:r>
            <a:r>
              <a:rPr lang="en-US" altLang="en-US" b="1" dirty="0"/>
              <a:t>[3]   = {0.15, 0.25, 0.3};</a:t>
            </a:r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en-US" b="1" dirty="0"/>
              <a:t>char word[]            =  “hello”;		</a:t>
            </a:r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en-US" b="1" dirty="0"/>
              <a:t>char list[5]              = {‘</a:t>
            </a:r>
            <a:r>
              <a:rPr lang="en-US" altLang="en-US" b="1" dirty="0" err="1"/>
              <a:t>h’,’e’,’l’,’l’,’o</a:t>
            </a:r>
            <a:r>
              <a:rPr lang="en-US" altLang="en-US" b="1" dirty="0"/>
              <a:t>’};</a:t>
            </a:r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en-US" b="1" dirty="0"/>
              <a:t>					</a:t>
            </a:r>
            <a:r>
              <a:rPr lang="en-US" altLang="en-US" b="1" dirty="0">
                <a:solidFill>
                  <a:srgbClr val="0000CC"/>
                </a:solidFill>
              </a:rPr>
              <a:t>//list of characters, not a string</a:t>
            </a:r>
            <a:endParaRPr lang="en-US" altLang="en-US" b="1" dirty="0"/>
          </a:p>
          <a:p>
            <a:pPr lvl="1" eaLnBrk="1" hangingPunct="1">
              <a:spcBef>
                <a:spcPct val="20000"/>
              </a:spcBef>
              <a:defRPr/>
            </a:pPr>
            <a:r>
              <a:rPr lang="en-US" altLang="en-US" b="1" dirty="0"/>
              <a:t>double vector[100] = {0.0}; </a:t>
            </a:r>
            <a:r>
              <a:rPr lang="en-US" altLang="en-US" sz="2000" b="1" dirty="0">
                <a:solidFill>
                  <a:srgbClr val="0000CC"/>
                </a:solidFill>
              </a:rPr>
              <a:t>//assigns zero to all 100 elements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32785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1"/>
            <a:ext cx="77724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cs typeface="Times New Roman" panose="02020603050405020304" pitchFamily="18" charset="0"/>
              </a:rPr>
              <a:t>Initializing Arrays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990600"/>
            <a:ext cx="8229600" cy="5638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float f[5]={0.0, 1.0, 2.0, 3.0, 4.0};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			// </a:t>
            </a:r>
            <a:r>
              <a:rPr lang="en-US" altLang="en-US" sz="2400">
                <a:cs typeface="Times New Roman" panose="02020603050405020304" pitchFamily="18" charset="0"/>
              </a:rPr>
              <a:t>initializes f[0] to 0.0, f[1] to 1.0…f[4] to 4.0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float f[5]; f[0]=0.0; f[1]=1.0; …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a[10]={2}; 		//rest initialized to zero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cout &lt;&lt; a[0]&lt;&lt; endl &lt;&lt; a[5] &lt;&lt; endl;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If no size given, allocates as much as the no. of initializers e.g. 	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a[]  = {5, 2, -9}; 		// </a:t>
            </a:r>
            <a:r>
              <a:rPr lang="en-US" altLang="en-US" sz="2400">
                <a:cs typeface="Times New Roman" panose="02020603050405020304" pitchFamily="18" charset="0"/>
              </a:rPr>
              <a:t>and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		int a[3] = {5, 2, -9}; 		// </a:t>
            </a:r>
            <a:r>
              <a:rPr lang="en-US" altLang="en-US" sz="2400">
                <a:cs typeface="Times New Roman" panose="02020603050405020304" pitchFamily="18" charset="0"/>
              </a:rPr>
              <a:t>are equivalent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Can’t do:		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hand[2]; hand[2]={5, 9};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Can’t do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:		short y[2]={1,2,3,4};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Don’t confuse:	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short b[4] </a:t>
            </a:r>
            <a:r>
              <a:rPr lang="en-US" altLang="en-US" sz="2400">
                <a:cs typeface="Times New Roman" panose="02020603050405020304" pitchFamily="18" charset="0"/>
              </a:rPr>
              <a:t>and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b[4]</a:t>
            </a:r>
          </a:p>
        </p:txBody>
      </p:sp>
    </p:spTree>
    <p:extLst>
      <p:ext uri="{BB962C8B-B14F-4D97-AF65-F5344CB8AC3E}">
        <p14:creationId xmlns:p14="http://schemas.microsoft.com/office/powerpoint/2010/main" val="1726741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1"/>
            <a:ext cx="7772400" cy="639763"/>
          </a:xfrm>
        </p:spPr>
        <p:txBody>
          <a:bodyPr/>
          <a:lstStyle/>
          <a:p>
            <a:pPr eaLnBrk="1" hangingPunct="1"/>
            <a:r>
              <a:rPr lang="en-US" altLang="en-US" sz="3600">
                <a:cs typeface="Times New Roman" panose="02020603050405020304" pitchFamily="18" charset="0"/>
              </a:rPr>
              <a:t>Initializing Arrays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38200"/>
            <a:ext cx="8229600" cy="5867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i="1">
                <a:cs typeface="Times New Roman" panose="02020603050405020304" pitchFamily="18" charset="0"/>
              </a:rPr>
              <a:t>for </a:t>
            </a:r>
            <a:r>
              <a:rPr lang="en-US" altLang="en-US" sz="2400">
                <a:cs typeface="Times New Roman" panose="02020603050405020304" pitchFamily="18" charset="0"/>
              </a:rPr>
              <a:t>loops used to initialize arrays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i="1"/>
              <a:t> 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&lt;iostream.h&gt;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int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int t, sample[10]; // this reserves 10 integer elements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// load the array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for(t=0; t&lt;10; ++t)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	sample[t]=t;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// display the array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for(t=0; t&lt;10; ++t)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	cout &lt;&lt; sample[t] &lt;&lt; ' ';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59070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>
                <a:cs typeface="Times New Roman" panose="02020603050405020304" pitchFamily="18" charset="0"/>
              </a:rPr>
              <a:t>Initializing Arrays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685800"/>
            <a:ext cx="8839200" cy="6172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	int a[5];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>
                <a:cs typeface="Times New Roman" panose="02020603050405020304" pitchFamily="18" charset="0"/>
              </a:rPr>
              <a:t>Now an indexed variable like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a[1]</a:t>
            </a:r>
            <a:r>
              <a:rPr lang="en-US" altLang="en-US" sz="1800">
                <a:cs typeface="Times New Roman" panose="02020603050405020304" pitchFamily="18" charset="0"/>
              </a:rPr>
              <a:t> can be used anywhere that a variable of type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>
                <a:cs typeface="Times New Roman" panose="02020603050405020304" pitchFamily="18" charset="0"/>
              </a:rPr>
              <a:t> can be used</a:t>
            </a:r>
            <a:endParaRPr lang="en-US" altLang="en-US" sz="240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 a[5];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cin &gt;&gt; a[4] &gt;&gt; a[2];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cout &lt;&lt; a[2] &lt;&lt; “ “ &lt;&lt; a[4] &lt;&lt; endl;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cin &gt;&gt; a[3] &gt;&gt; a[0];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 max; max = a[3] + a[0]; cout &lt;&lt; max &lt;&lt; endl;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 next;   cin &gt;&gt; next;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a[1]= next; cout &lt;&lt; a[1] &lt;&lt; endl;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a[3]= 42;   cout &lt;&lt; a[3] &lt;&lt; endl;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 student = 2;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a[student]  = 99;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cout &lt;&lt; a[student] &lt;&lt; “ “ &lt;&lt; a[2] &lt;&lt; endl;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Also: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a[get_index())] = 3; if get_index() </a:t>
            </a:r>
            <a:r>
              <a:rPr lang="en-US" altLang="en-US" sz="2400">
                <a:cs typeface="Times New Roman" panose="02020603050405020304" pitchFamily="18" charset="0"/>
              </a:rPr>
              <a:t>returns an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int</a:t>
            </a:r>
          </a:p>
        </p:txBody>
      </p:sp>
    </p:spTree>
    <p:extLst>
      <p:ext uri="{BB962C8B-B14F-4D97-AF65-F5344CB8AC3E}">
        <p14:creationId xmlns:p14="http://schemas.microsoft.com/office/powerpoint/2010/main" val="237407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idx="1"/>
          </p:nvPr>
        </p:nvSpPr>
        <p:spPr>
          <a:xfrm>
            <a:off x="1981200" y="0"/>
            <a:ext cx="8229600" cy="68580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//Reads in 5 scores, displays max_score and shows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//how much each score differs from max_score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const int SIZE = 5;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int i, score[SIZE], max_score;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cout &lt;&lt; “Enter “ &lt;&lt; SIZE &lt;&lt; “ scores: \n”;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cin &gt;&gt; score[0];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max_score = score[0];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for (i=1; i&lt;SIZE; i++)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	cin &gt;&gt; score[i];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	if (score[i] &gt; max_score)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		max_score=score[i];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cout &lt;&lt; “The highest score is: “ &lt;&lt; max_score &lt;&lt; endl;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“Scores &amp; their difference from highest: \n”;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	for (i=0; i&lt;SIZE; i++)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cout &lt;&lt; score[i] &lt;&lt; “ off by “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&lt;&lt; (max_score – score[i]) &lt;&lt; endl;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US" altLang="en-US" sz="180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46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1"/>
            <a:ext cx="7772400" cy="868363"/>
          </a:xfrm>
        </p:spPr>
        <p:txBody>
          <a:bodyPr/>
          <a:lstStyle/>
          <a:p>
            <a:pPr eaLnBrk="1" hangingPunct="1"/>
            <a:r>
              <a:rPr lang="en-US" altLang="en-US" sz="3600">
                <a:cs typeface="Times New Roman" panose="02020603050405020304" pitchFamily="18" charset="0"/>
              </a:rPr>
              <a:t>Initializing Arrays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914400"/>
            <a:ext cx="8686800" cy="5943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Useful to give a </a:t>
            </a:r>
            <a:r>
              <a:rPr lang="en-US" altLang="en-US" i="1">
                <a:cs typeface="Times New Roman" panose="02020603050405020304" pitchFamily="18" charset="0"/>
              </a:rPr>
              <a:t>constant</a:t>
            </a:r>
            <a:r>
              <a:rPr lang="en-US" altLang="en-US">
                <a:cs typeface="Times New Roman" panose="02020603050405020304" pitchFamily="18" charset="0"/>
              </a:rPr>
              <a:t> name to the </a:t>
            </a:r>
            <a:r>
              <a:rPr lang="en-US" altLang="en-US" i="1">
                <a:cs typeface="Times New Roman" panose="02020603050405020304" pitchFamily="18" charset="0"/>
              </a:rPr>
              <a:t>size</a:t>
            </a:r>
            <a:r>
              <a:rPr lang="en-US" altLang="en-US">
                <a:cs typeface="Times New Roman" panose="02020603050405020304" pitchFamily="18" charset="0"/>
              </a:rPr>
              <a:t> of array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    	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en-US" altLang="en-U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type modifier*/</a:t>
            </a:r>
            <a:endParaRPr lang="en-US" altLang="en-US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		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const int NUM_EMPLOYEES = 10;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		int salaries[NUM_EMPLOYEES];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		for (int i=0; i &lt; NUM_EMPLOYEES; i++)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			cin &gt;&gt; salaries[i];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Advantage? Why not use a variable name?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Another way: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		# define NUM_EMPLOYEES 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And yes,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sizeof(salaries); </a:t>
            </a:r>
            <a:r>
              <a:rPr lang="en-US" altLang="en-US">
                <a:cs typeface="Times New Roman" panose="02020603050405020304" pitchFamily="18" charset="0"/>
              </a:rPr>
              <a:t>gives what?</a:t>
            </a:r>
          </a:p>
        </p:txBody>
      </p:sp>
    </p:spTree>
    <p:extLst>
      <p:ext uri="{BB962C8B-B14F-4D97-AF65-F5344CB8AC3E}">
        <p14:creationId xmlns:p14="http://schemas.microsoft.com/office/powerpoint/2010/main" val="269093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Arrays</a:t>
            </a:r>
            <a:r>
              <a:rPr lang="en-US" altLang="en-US" sz="440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1676400" y="914400"/>
            <a:ext cx="8991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Total size of an array in bytes?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Total bytes =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		number of bytes in type * number of elements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e.g. int sample[10];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Has size in bytes = 10 * sizeof(int)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35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2209800" y="2286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Initializing Arrays</a:t>
            </a:r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828800" y="914400"/>
            <a:ext cx="86106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What is wrong with the following?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rgbClr val="006666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3200">
                <a:latin typeface="Times New Roman" panose="02020603050405020304" pitchFamily="18" charset="0"/>
              </a:rPr>
              <a:t>int num=10;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int iarray[num];  </a:t>
            </a: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// not possible as static array and size is variable</a:t>
            </a:r>
            <a:endParaRPr lang="en-US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int size;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cin &gt;&gt; size;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int myarray[size]; </a:t>
            </a: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// not possible as static array</a:t>
            </a:r>
          </a:p>
          <a:p>
            <a:pPr eaLnBrk="1" hangingPunct="1">
              <a:spcBef>
                <a:spcPct val="20000"/>
              </a:spcBef>
            </a:pPr>
            <a:endParaRPr lang="en-US" altLang="en-US" sz="32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double darray[5]={3.2, 4.5, 6.7, 324.0, 45.8, 23.1, 34.9} 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\\?</a:t>
            </a:r>
          </a:p>
        </p:txBody>
      </p:sp>
    </p:spTree>
    <p:extLst>
      <p:ext uri="{BB962C8B-B14F-4D97-AF65-F5344CB8AC3E}">
        <p14:creationId xmlns:p14="http://schemas.microsoft.com/office/powerpoint/2010/main" val="267911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Assigning One Array to Another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981200" y="914400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int a[10], b[10];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// ...</a:t>
            </a:r>
          </a:p>
          <a:p>
            <a:pPr eaLnBrk="1" hangingPunct="1">
              <a:spcBef>
                <a:spcPct val="20000"/>
              </a:spcBef>
            </a:pPr>
            <a:endParaRPr lang="en-US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a = b; // error -- illegal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/*So how do we make the contents of one array same as the other?*/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142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1"/>
            <a:ext cx="77724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cs typeface="Times New Roman" panose="02020603050405020304" pitchFamily="18" charset="0"/>
              </a:rPr>
              <a:t>Assigning One Array to Another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371600"/>
            <a:ext cx="82296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 a[5], b[5];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// 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a = b; // error – illegal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cs typeface="Times New Roman" panose="02020603050405020304" pitchFamily="18" charset="0"/>
              </a:rPr>
              <a:t>Cannot assign one array to another; each element must be copied individually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cs typeface="Times New Roman" panose="02020603050405020304" pitchFamily="18" charset="0"/>
              </a:rPr>
              <a:t>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const int ARRAY_SIZE = 5;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int a[] = {10, 11, 12, 13, 14};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int main()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int b[ARRAY_SIZE];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for (int i=0; i &lt; ARRAY_SIZE; ++i)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		     b[i] = a[i];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253067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362200" y="3429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Assigning Values to an Array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286000" y="1524001"/>
            <a:ext cx="7772400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Example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60000"/>
              </a:lnSpc>
              <a:spcBef>
                <a:spcPct val="50000"/>
              </a:spcBef>
            </a:pPr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int list[10];</a:t>
            </a:r>
          </a:p>
          <a:p>
            <a:pPr lvl="2">
              <a:lnSpc>
                <a:spcPct val="60000"/>
              </a:lnSpc>
              <a:spcBef>
                <a:spcPct val="50000"/>
              </a:spcBef>
            </a:pPr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int count;</a:t>
            </a:r>
          </a:p>
          <a:p>
            <a:pPr lvl="2">
              <a:lnSpc>
                <a:spcPct val="60000"/>
              </a:lnSpc>
              <a:spcBef>
                <a:spcPct val="50000"/>
              </a:spcBef>
            </a:pPr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cin &gt;&gt; count;</a:t>
            </a:r>
          </a:p>
          <a:p>
            <a:pPr lvl="2">
              <a:lnSpc>
                <a:spcPct val="60000"/>
              </a:lnSpc>
              <a:spcBef>
                <a:spcPct val="50000"/>
              </a:spcBef>
            </a:pPr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for(int i=0; i&lt;count; i++)</a:t>
            </a:r>
          </a:p>
          <a:p>
            <a:pPr lvl="2">
              <a:lnSpc>
                <a:spcPct val="60000"/>
              </a:lnSpc>
              <a:spcBef>
                <a:spcPct val="50000"/>
              </a:spcBef>
            </a:pPr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	cin &gt;&gt; list[i];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What if count &gt;9?  // Run Time Error</a:t>
            </a:r>
          </a:p>
        </p:txBody>
      </p:sp>
    </p:spTree>
    <p:extLst>
      <p:ext uri="{BB962C8B-B14F-4D97-AF65-F5344CB8AC3E}">
        <p14:creationId xmlns:p14="http://schemas.microsoft.com/office/powerpoint/2010/main" val="2648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Summarize Arrays</a:t>
            </a:r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1981200" y="914400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In C++ all arrays are stored in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contiguous memory</a:t>
            </a:r>
            <a:r>
              <a:rPr lang="en-US" altLang="en-US" sz="2800">
                <a:latin typeface="Times New Roman" panose="02020603050405020304" pitchFamily="18" charset="0"/>
              </a:rPr>
              <a:t> locations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An individual element is accessed by use of an index.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An index describes the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position</a:t>
            </a:r>
            <a:r>
              <a:rPr lang="en-US" altLang="en-US" sz="2800">
                <a:latin typeface="Times New Roman" panose="02020603050405020304" pitchFamily="18" charset="0"/>
              </a:rPr>
              <a:t> of an element within an array.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In C++ all arrays have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zero</a:t>
            </a:r>
            <a:r>
              <a:rPr lang="en-US" altLang="en-US" sz="280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</a:rPr>
              <a:t>as the index of their first element.</a:t>
            </a:r>
            <a:endParaRPr lang="en-US" altLang="en-US" sz="280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90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Arrays: Min Max</a:t>
            </a:r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1981200" y="914400"/>
            <a:ext cx="83058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int main()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 const int SIZE = 10;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 int i, min_value, max_value;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 int list[SIZE];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 for(i=0; i&lt;SIZE; i++)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      list[i] = rand(); // Adding Random values in array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      cout&lt;&lt;list[i]&lt;&lt;" ";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46979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Arrays</a:t>
            </a:r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1981200" y="914400"/>
            <a:ext cx="8305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     // find minimum value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  min_value = list[0];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    for(i=0; i&lt;SIZE; i++)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   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          if (min_value&gt;list[i])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        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		      min_value = list[i];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	    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   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  </a:t>
            </a:r>
            <a:r>
              <a:rPr lang="en-US" altLang="en-US" sz="2600">
                <a:latin typeface="Times New Roman" panose="02020603050405020304" pitchFamily="18" charset="0"/>
              </a:rPr>
              <a:t>cout &lt;&lt; "minimum value: " &lt;&lt; min_value &lt;&lt; ‘\n’;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63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Arrays</a:t>
            </a:r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1981200" y="914400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     // find maximum value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   max_value = list[0];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   </a:t>
            </a: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for(i=0; i&lt;SIZE; i++)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    {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          if (max_value&lt;list[i])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        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		      max_value = list[i];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	    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     }</a:t>
            </a:r>
            <a:endParaRPr lang="en-US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   </a:t>
            </a:r>
            <a:r>
              <a:rPr lang="en-US" altLang="en-US" sz="2200">
                <a:latin typeface="Times New Roman" panose="02020603050405020304" pitchFamily="18" charset="0"/>
              </a:rPr>
              <a:t>cout &lt;&lt; "maximum value: " &lt;&lt;  max_value &lt;&lt; '\n';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   return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}	// end of main function</a:t>
            </a:r>
            <a:endParaRPr lang="en-US" altLang="en-US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7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Arrays - No Bounds Checking</a:t>
            </a:r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1981200" y="914400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// An incorrect program.  Do Not Execute!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int main()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int crash[10], i;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for(i=0; i&lt;100; i++) 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crash[i]=i;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return 1;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4040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Sorting an Array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1981200" y="914400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Lots of applications require sorting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srgbClr val="CC33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 for sorting</a:t>
            </a:r>
          </a:p>
          <a:p>
            <a:pPr eaLnBrk="1" hangingPunct="1">
              <a:spcBef>
                <a:spcPct val="20000"/>
              </a:spcBef>
            </a:pPr>
            <a:endParaRPr lang="en-US" altLang="en-US" sz="3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813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5943600" y="0"/>
            <a:ext cx="4038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rgbClr val="0000CC"/>
                </a:solidFill>
                <a:latin typeface="Times New Roman" panose="02020603050405020304" pitchFamily="18" charset="0"/>
              </a:rPr>
              <a:t>Sorting an Array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1524000" y="152400"/>
            <a:ext cx="87630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const int SIZE = 10;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double darray[SIZE] = {34, 5.6, 0.9, 345.7, 54.1, 23.5, 2.5, 6.78, 12.4, 13.9};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int i, j;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for (i=0; i&lt;SIZE-1; i++)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	for (j=i+1; j&lt; SIZE; j++)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		if (darray[i]&gt;darray[j])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		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			double temp;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			temp       = darray[i];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				darray[i] = darray[j];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		darray[j] = temp;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>
                <a:latin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>
                <a:latin typeface="Times New Roman" panose="02020603050405020304" pitchFamily="18" charset="0"/>
              </a:rPr>
              <a:t>	}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//inplace sorting ?</a:t>
            </a:r>
          </a:p>
        </p:txBody>
      </p:sp>
    </p:spTree>
    <p:extLst>
      <p:ext uri="{BB962C8B-B14F-4D97-AF65-F5344CB8AC3E}">
        <p14:creationId xmlns:p14="http://schemas.microsoft.com/office/powerpoint/2010/main" val="1063032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2286000" y="3048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Sorting an Array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1981200" y="914400"/>
            <a:ext cx="8305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rgbClr val="0000CC"/>
                </a:solidFill>
                <a:latin typeface="Times New Roman" panose="02020603050405020304" pitchFamily="18" charset="0"/>
              </a:rPr>
              <a:t>// Using the bubble sort to order an array.</a:t>
            </a:r>
            <a:endParaRPr lang="en-US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int main()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   const int SIZE = 10;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int nums[SIZE];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int a, b, t;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// give the array some random initial values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</a:t>
            </a: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for(t=0; t&lt;SIZE; t++)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		nums[t] = rand();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870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2286000" y="152400"/>
            <a:ext cx="777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0000CC"/>
                </a:solidFill>
                <a:latin typeface="Times New Roman" panose="02020603050405020304" pitchFamily="18" charset="0"/>
              </a:rPr>
              <a:t>Sorting an Array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1981200" y="685800"/>
            <a:ext cx="83058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</a:t>
            </a: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// This is the bubble sort.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	for(a=1; a&lt;SIZE; a++)      // size = 5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for(b=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SIZE-1</a:t>
            </a:r>
            <a:r>
              <a:rPr lang="en-US" altLang="en-US" sz="2400">
                <a:latin typeface="Times New Roman" panose="02020603050405020304" pitchFamily="18" charset="0"/>
              </a:rPr>
              <a:t>; b&gt;=a; b--)    //b=4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	if (nums[b-1] &gt; nums[b])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	{ </a:t>
            </a:r>
            <a:r>
              <a:rPr lang="en-US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// if out of order exchange elements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		t = nums[b-1];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		nums[b-1] = nums[b];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		nums[b] = 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	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		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   }</a:t>
            </a:r>
            <a:endParaRPr lang="en-US" altLang="en-US" sz="240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487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2362200" y="3429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Two Dimensional Arrays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2362200" y="1752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latin typeface="Times New Roman" panose="02020603050405020304" pitchFamily="18" charset="0"/>
              </a:rPr>
              <a:t>C++ supports multi-dimensional array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400" i="1">
                <a:latin typeface="Times New Roman" panose="02020603050405020304" pitchFamily="18" charset="0"/>
              </a:rPr>
              <a:t>data_type array_name[ROW_SIZE][COLUMN_SIZE</a:t>
            </a:r>
            <a:r>
              <a:rPr lang="en-US" altLang="en-US" sz="2800" i="1"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400">
                <a:latin typeface="Times New Roman" panose="02020603050405020304" pitchFamily="18" charset="0"/>
              </a:rPr>
              <a:t>int matrix[3][4];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200400" y="3581400"/>
            <a:ext cx="18288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7045" name="Line 5"/>
          <p:cNvSpPr>
            <a:spLocks noChangeShapeType="1"/>
          </p:cNvSpPr>
          <p:nvPr/>
        </p:nvSpPr>
        <p:spPr bwMode="auto">
          <a:xfrm>
            <a:off x="3200400" y="39624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6" name="Line 6"/>
          <p:cNvSpPr>
            <a:spLocks noChangeShapeType="1"/>
          </p:cNvSpPr>
          <p:nvPr/>
        </p:nvSpPr>
        <p:spPr bwMode="auto">
          <a:xfrm>
            <a:off x="3200400" y="450373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7" name="Line 7"/>
          <p:cNvSpPr>
            <a:spLocks noChangeShapeType="1"/>
          </p:cNvSpPr>
          <p:nvPr/>
        </p:nvSpPr>
        <p:spPr bwMode="auto">
          <a:xfrm>
            <a:off x="4092575" y="3581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8" name="Line 8"/>
          <p:cNvSpPr>
            <a:spLocks noChangeShapeType="1"/>
          </p:cNvSpPr>
          <p:nvPr/>
        </p:nvSpPr>
        <p:spPr bwMode="auto">
          <a:xfrm>
            <a:off x="3587750" y="3581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9" name="Line 9"/>
          <p:cNvSpPr>
            <a:spLocks noChangeShapeType="1"/>
          </p:cNvSpPr>
          <p:nvPr/>
        </p:nvSpPr>
        <p:spPr bwMode="auto">
          <a:xfrm>
            <a:off x="4554538" y="3581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0" name="Text Box 10"/>
          <p:cNvSpPr txBox="1">
            <a:spLocks noChangeArrowheads="1"/>
          </p:cNvSpPr>
          <p:nvPr/>
        </p:nvSpPr>
        <p:spPr bwMode="auto">
          <a:xfrm>
            <a:off x="5029200" y="3581400"/>
            <a:ext cx="30607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row[0]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row[1]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row[2]</a:t>
            </a:r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3200401" y="5429250"/>
            <a:ext cx="892175" cy="438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row1</a:t>
            </a:r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4092576" y="5429250"/>
            <a:ext cx="892175" cy="438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row2</a:t>
            </a:r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4984751" y="5429250"/>
            <a:ext cx="892175" cy="438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row3</a:t>
            </a:r>
          </a:p>
        </p:txBody>
      </p:sp>
      <p:sp>
        <p:nvSpPr>
          <p:cNvPr id="87054" name="Text Box 14"/>
          <p:cNvSpPr txBox="1">
            <a:spLocks noChangeArrowheads="1"/>
          </p:cNvSpPr>
          <p:nvPr/>
        </p:nvSpPr>
        <p:spPr bwMode="auto">
          <a:xfrm>
            <a:off x="3200400" y="4972050"/>
            <a:ext cx="3532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in memory</a:t>
            </a:r>
          </a:p>
        </p:txBody>
      </p:sp>
    </p:spTree>
    <p:extLst>
      <p:ext uri="{BB962C8B-B14F-4D97-AF65-F5344CB8AC3E}">
        <p14:creationId xmlns:p14="http://schemas.microsoft.com/office/powerpoint/2010/main" val="3796373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2362200" y="3429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Accessing Array Elements</a:t>
            </a: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2362200" y="1752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latin typeface="Times New Roman" panose="02020603050405020304" pitchFamily="18" charset="0"/>
              </a:rPr>
              <a:t>int matrix[3][4];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matrix has 12 integer elements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matrix[0][0]	element in first row, first column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matrix[2][3]	element in last row, last column</a:t>
            </a:r>
          </a:p>
        </p:txBody>
      </p:sp>
    </p:spTree>
    <p:extLst>
      <p:ext uri="{BB962C8B-B14F-4D97-AF65-F5344CB8AC3E}">
        <p14:creationId xmlns:p14="http://schemas.microsoft.com/office/powerpoint/2010/main" val="2615767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2209800" y="838200"/>
            <a:ext cx="77724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int main()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	    const int ROWS = 3;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	    const int COLS  = 4;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int i, j, num[ROWS][COLS];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for(i=0; i&lt;ROWS; ++i)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for(j=0; j&lt;COLS; ++j)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    num[i][j] = (i*COLS)+j+1;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    cout &lt;&lt; num[i][j] &lt;&lt; “\t“;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}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cout &lt;&lt; “\n”;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}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return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}	</a:t>
            </a:r>
            <a:r>
              <a:rPr lang="en-US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// output?</a:t>
            </a: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2209800" y="228600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r" eaLnBrk="1" hangingPunct="1"/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Two Dimensional Arrays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593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2895600" y="838201"/>
            <a:ext cx="475615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r>
              <a:rPr lang="en-US" altLang="en-US" sz="3600">
                <a:latin typeface="Times New Roman" panose="02020603050405020304" pitchFamily="18" charset="0"/>
              </a:rPr>
              <a:t>Output:</a:t>
            </a:r>
          </a:p>
          <a:p>
            <a:r>
              <a:rPr lang="en-US" altLang="en-US" sz="3600" b="1">
                <a:solidFill>
                  <a:srgbClr val="0000CC"/>
                </a:solidFill>
                <a:latin typeface="Times New Roman" panose="02020603050405020304" pitchFamily="18" charset="0"/>
              </a:rPr>
              <a:t>1       2       3       4</a:t>
            </a:r>
          </a:p>
          <a:p>
            <a:r>
              <a:rPr lang="en-US" altLang="en-US" sz="3600" b="1">
                <a:solidFill>
                  <a:srgbClr val="0000CC"/>
                </a:solidFill>
                <a:latin typeface="Times New Roman" panose="02020603050405020304" pitchFamily="18" charset="0"/>
              </a:rPr>
              <a:t>5       6       7       8</a:t>
            </a:r>
          </a:p>
          <a:p>
            <a:r>
              <a:rPr lang="en-US" altLang="en-US" sz="3600" b="1">
                <a:solidFill>
                  <a:srgbClr val="0000CC"/>
                </a:solidFill>
                <a:latin typeface="Times New Roman" panose="02020603050405020304" pitchFamily="18" charset="0"/>
              </a:rPr>
              <a:t>9       10     11     12</a:t>
            </a:r>
          </a:p>
        </p:txBody>
      </p:sp>
    </p:spTree>
    <p:extLst>
      <p:ext uri="{BB962C8B-B14F-4D97-AF65-F5344CB8AC3E}">
        <p14:creationId xmlns:p14="http://schemas.microsoft.com/office/powerpoint/2010/main" val="2775464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2209800" y="914400"/>
            <a:ext cx="77724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int main()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Times New Roman" panose="02020603050405020304" pitchFamily="18" charset="0"/>
              </a:rPr>
              <a:t>	    const int ROWS = 3;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Times New Roman" panose="02020603050405020304" pitchFamily="18" charset="0"/>
              </a:rPr>
              <a:t>	    const int COLS  = 4;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1600" b="1">
                <a:latin typeface="Times New Roman" panose="02020603050405020304" pitchFamily="18" charset="0"/>
              </a:rPr>
              <a:t>  int i, j, num[ROWS][COLS];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b="1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for(i=0; i&lt;ROWS; ++i)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 for(j=0; j&lt;COLS; ++j)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     num[i][j] = (i*COLS)+j+1;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     cout &lt;&lt; num[i][j] &lt;&lt; “   “;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}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     cout &lt;&lt; “\n”;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}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 return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}	</a:t>
            </a:r>
            <a:r>
              <a:rPr lang="en-US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// output?</a:t>
            </a: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2209800" y="228600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r" eaLnBrk="1" hangingPunct="1"/>
            <a: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Two Dimensional Arrays</a:t>
            </a:r>
            <a:br>
              <a:rPr lang="en-US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</a:br>
            <a:r>
              <a:rPr lang="en-US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What happens if I change [3][4] to [2][6]?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868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2895600" y="914400"/>
            <a:ext cx="61277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r>
              <a:rPr lang="en-US" altLang="en-US" sz="3600">
                <a:latin typeface="Times New Roman" panose="02020603050405020304" pitchFamily="18" charset="0"/>
              </a:rPr>
              <a:t>Output:</a:t>
            </a:r>
          </a:p>
          <a:p>
            <a:r>
              <a:rPr lang="en-US" altLang="en-US" sz="3600" b="1">
                <a:solidFill>
                  <a:srgbClr val="0000CC"/>
                </a:solidFill>
                <a:latin typeface="Times New Roman" panose="02020603050405020304" pitchFamily="18" charset="0"/>
              </a:rPr>
              <a:t>1       2       3       4       5       6</a:t>
            </a:r>
          </a:p>
          <a:p>
            <a:r>
              <a:rPr lang="en-US" altLang="en-US" sz="3600" b="1">
                <a:solidFill>
                  <a:srgbClr val="0000CC"/>
                </a:solidFill>
                <a:latin typeface="Times New Roman" panose="02020603050405020304" pitchFamily="18" charset="0"/>
              </a:rPr>
              <a:t>7       8       9       10      11      12</a:t>
            </a:r>
          </a:p>
        </p:txBody>
      </p:sp>
    </p:spTree>
    <p:extLst>
      <p:ext uri="{BB962C8B-B14F-4D97-AF65-F5344CB8AC3E}">
        <p14:creationId xmlns:p14="http://schemas.microsoft.com/office/powerpoint/2010/main" val="866538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>
                <a:solidFill>
                  <a:schemeClr val="accent2"/>
                </a:solidFill>
              </a:rPr>
              <a:t>Multidimentional Arrays</a:t>
            </a:r>
            <a:endParaRPr lang="en-US" altLang="en-US" smtClean="0"/>
          </a:p>
        </p:txBody>
      </p:sp>
      <p:sp>
        <p:nvSpPr>
          <p:cNvPr id="93187" name="Rectangle 2"/>
          <p:cNvSpPr>
            <a:spLocks noGrp="1" noChangeArrowheads="1"/>
          </p:cNvSpPr>
          <p:nvPr>
            <p:ph idx="1"/>
          </p:nvPr>
        </p:nvSpPr>
        <p:spPr>
          <a:xfrm>
            <a:off x="2209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en-US" b="1"/>
              <a:t> type name[size1][size2] . . . [sizeN];</a:t>
            </a:r>
          </a:p>
          <a:p>
            <a:pPr eaLnBrk="1" hangingPunct="1"/>
            <a:endParaRPr lang="en-US" altLang="en-US" b="1"/>
          </a:p>
          <a:p>
            <a:pPr eaLnBrk="1" hangingPunct="1"/>
            <a:r>
              <a:rPr lang="en-US" altLang="en-US" b="1"/>
              <a:t> </a:t>
            </a:r>
            <a:r>
              <a:rPr lang="en-US" altLang="en-US" smtClean="0"/>
              <a:t>int multidim[4][10][3];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when multidimensional arrays are used, </a:t>
            </a:r>
            <a:r>
              <a:rPr lang="en-US" altLang="en-US" smtClean="0">
                <a:solidFill>
                  <a:srgbClr val="FF0000"/>
                </a:solidFill>
              </a:rPr>
              <a:t>large amounts of memory are consumed</a:t>
            </a:r>
            <a:r>
              <a:rPr lang="en-US" altLang="en-US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9709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>
                <a:solidFill>
                  <a:schemeClr val="accent2"/>
                </a:solidFill>
              </a:rPr>
              <a:t>Multidimensional Array Initialization</a:t>
            </a:r>
            <a:endParaRPr lang="en-US" altLang="en-US" smtClean="0"/>
          </a:p>
        </p:txBody>
      </p:sp>
      <p:sp>
        <p:nvSpPr>
          <p:cNvPr id="94211" name="Rectangle 2"/>
          <p:cNvSpPr>
            <a:spLocks noGrp="1" noChangeArrowheads="1"/>
          </p:cNvSpPr>
          <p:nvPr>
            <p:ph idx="1"/>
          </p:nvPr>
        </p:nvSpPr>
        <p:spPr>
          <a:xfrm>
            <a:off x="2209800" y="762000"/>
            <a:ext cx="7772400" cy="5334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int sqrs[10][2] =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1, 1,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2, 4,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3, 9,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4, 16,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5, 25,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6, 36,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7, 49,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8, 64,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9, 81,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10, 100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49507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>
                <a:solidFill>
                  <a:schemeClr val="accent2"/>
                </a:solidFill>
              </a:rPr>
              <a:t>Multidimensional Arrays</a:t>
            </a:r>
            <a:endParaRPr lang="en-US" altLang="en-US" smtClean="0"/>
          </a:p>
        </p:txBody>
      </p:sp>
      <p:sp>
        <p:nvSpPr>
          <p:cNvPr id="95235" name="Rectangle 2"/>
          <p:cNvSpPr>
            <a:spLocks noGrp="1" noChangeArrowheads="1"/>
          </p:cNvSpPr>
          <p:nvPr>
            <p:ph idx="1"/>
          </p:nvPr>
        </p:nvSpPr>
        <p:spPr>
          <a:xfrm>
            <a:off x="2209800" y="762000"/>
            <a:ext cx="7772400" cy="5867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int main(void)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const int ALPHABETS = 26;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char code[ALPHABETS][2] =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{'a', 'f'},  {'b', 'w'}, {'c', 'x'},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{'d', 'v'}, {'e', 's'}, 	{'f', 'r'},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{'g', 'q'}, {'h', 'c'}, {'i', 'g'},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{'j', 'h'}, {'k', 'e'}, 	{'l', 'u'},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{'m', 'b'}, {'n', 'j'}, {'o', 'd'},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{'p', 'k'}, {'q', 't'}, {'r', 'l'},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{'s', 'm'}, {'t', 'n'}, {'u', 'a'},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{'v', 'o'}, {'w', 'p'}, {'x', 'z'},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	{'y', 'i'}, {'z', 'y'}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	};</a:t>
            </a:r>
          </a:p>
        </p:txBody>
      </p:sp>
    </p:spTree>
    <p:extLst>
      <p:ext uri="{BB962C8B-B14F-4D97-AF65-F5344CB8AC3E}">
        <p14:creationId xmlns:p14="http://schemas.microsoft.com/office/powerpoint/2010/main" val="2168280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>
                <a:solidFill>
                  <a:schemeClr val="accent2"/>
                </a:solidFill>
              </a:rPr>
              <a:t>Multidimensional Arrays</a:t>
            </a:r>
            <a:endParaRPr lang="en-US" altLang="en-US" smtClean="0"/>
          </a:p>
        </p:txBody>
      </p:sp>
      <p:sp>
        <p:nvSpPr>
          <p:cNvPr id="96259" name="Rectangle 2"/>
          <p:cNvSpPr>
            <a:spLocks noGrp="1" noChangeArrowheads="1"/>
          </p:cNvSpPr>
          <p:nvPr>
            <p:ph idx="1"/>
          </p:nvPr>
        </p:nvSpPr>
        <p:spPr>
          <a:xfrm>
            <a:off x="2209800" y="762000"/>
            <a:ext cx="7772400" cy="5791200"/>
          </a:xfrm>
        </p:spPr>
        <p:txBody>
          <a:bodyPr/>
          <a:lstStyle/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int i;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char alpha;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cout &lt;&lt; "Enter an alphabet: ";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cin &gt;&gt; alpha;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en-US" b="1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</a:t>
            </a:r>
            <a:r>
              <a:rPr lang="en-US" altLang="en-US" b="1">
                <a:solidFill>
                  <a:srgbClr val="FF0000"/>
                </a:solidFill>
              </a:rPr>
              <a:t>for(i=0; i&lt; </a:t>
            </a:r>
            <a:r>
              <a:rPr lang="en-US" altLang="en-US" sz="1800" b="1"/>
              <a:t>ALPHABETS</a:t>
            </a:r>
            <a:r>
              <a:rPr lang="en-US" altLang="en-US" b="1">
                <a:solidFill>
                  <a:srgbClr val="FF0000"/>
                </a:solidFill>
              </a:rPr>
              <a:t>; i++)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rgbClr val="FF0000"/>
                </a:solidFill>
              </a:rPr>
              <a:t>  {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	  	  if(code[i][0]==alpha)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       {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		  cout &lt;&lt; "The code of " &lt;&lt; alpha &lt;&lt; " is ";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		  cout &lt;&lt; code[i][1]&lt;&lt;endl;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		  break;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	   }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  </a:t>
            </a:r>
            <a:r>
              <a:rPr lang="en-US" altLang="en-US" b="1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84184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87338"/>
            <a:ext cx="9144000" cy="11430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800">
                <a:solidFill>
                  <a:schemeClr val="accent2"/>
                </a:solidFill>
                <a:latin typeface="Calibri" panose="020F0502020204030204" pitchFamily="34" charset="0"/>
              </a:rPr>
              <a:t>C++ automatic array</a:t>
            </a:r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3870326" y="1827213"/>
            <a:ext cx="28606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Calibri" panose="020F0502020204030204" pitchFamily="34" charset="0"/>
              </a:rPr>
              <a:t>int entry [31]; </a:t>
            </a:r>
          </a:p>
        </p:txBody>
      </p:sp>
      <p:sp>
        <p:nvSpPr>
          <p:cNvPr id="97284" name="Text Box 26"/>
          <p:cNvSpPr txBox="1">
            <a:spLocks noChangeArrowheads="1"/>
          </p:cNvSpPr>
          <p:nvPr/>
        </p:nvSpPr>
        <p:spPr bwMode="auto">
          <a:xfrm>
            <a:off x="7696201" y="1905001"/>
            <a:ext cx="2606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value has to be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known at compile time</a:t>
            </a:r>
          </a:p>
        </p:txBody>
      </p:sp>
      <p:sp>
        <p:nvSpPr>
          <p:cNvPr id="28677" name="Line 27"/>
          <p:cNvSpPr>
            <a:spLocks noChangeShapeType="1"/>
          </p:cNvSpPr>
          <p:nvPr/>
        </p:nvSpPr>
        <p:spPr bwMode="auto">
          <a:xfrm flipV="1">
            <a:off x="6477000" y="2209800"/>
            <a:ext cx="1295400" cy="0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7286" name="Rectangle 10"/>
          <p:cNvSpPr>
            <a:spLocks noChangeArrowheads="1"/>
          </p:cNvSpPr>
          <p:nvPr/>
        </p:nvSpPr>
        <p:spPr bwMode="auto">
          <a:xfrm>
            <a:off x="4098926" y="4389439"/>
            <a:ext cx="4435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  0          1        2              -----------                 30</a:t>
            </a:r>
          </a:p>
        </p:txBody>
      </p:sp>
      <p:sp>
        <p:nvSpPr>
          <p:cNvPr id="97287" name="Rectangle 14"/>
          <p:cNvSpPr>
            <a:spLocks noChangeArrowheads="1"/>
          </p:cNvSpPr>
          <p:nvPr/>
        </p:nvSpPr>
        <p:spPr bwMode="auto">
          <a:xfrm>
            <a:off x="2743201" y="2971800"/>
            <a:ext cx="10699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latin typeface="Calibri" panose="020F0502020204030204" pitchFamily="34" charset="0"/>
              </a:rPr>
              <a:t>entry</a:t>
            </a:r>
          </a:p>
        </p:txBody>
      </p:sp>
      <p:sp>
        <p:nvSpPr>
          <p:cNvPr id="97288" name="Rectangle 15"/>
          <p:cNvSpPr>
            <a:spLocks noChangeArrowheads="1"/>
          </p:cNvSpPr>
          <p:nvPr/>
        </p:nvSpPr>
        <p:spPr bwMode="auto">
          <a:xfrm>
            <a:off x="3070225" y="3541713"/>
            <a:ext cx="520700" cy="4445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8681" name="Line 29"/>
          <p:cNvSpPr>
            <a:spLocks noChangeShapeType="1"/>
          </p:cNvSpPr>
          <p:nvPr/>
        </p:nvSpPr>
        <p:spPr bwMode="auto">
          <a:xfrm>
            <a:off x="3276600" y="3733800"/>
            <a:ext cx="762000" cy="3810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7290" name="Rectangle 31"/>
          <p:cNvSpPr>
            <a:spLocks noChangeArrowheads="1"/>
          </p:cNvSpPr>
          <p:nvPr/>
        </p:nvSpPr>
        <p:spPr bwMode="auto">
          <a:xfrm>
            <a:off x="4038600" y="3886200"/>
            <a:ext cx="4495800" cy="5334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>
                <a:latin typeface="Calibri" panose="020F0502020204030204" pitchFamily="34" charset="0"/>
              </a:rPr>
              <a:t>34     45    15       ----------            36</a:t>
            </a:r>
          </a:p>
        </p:txBody>
      </p:sp>
      <p:sp>
        <p:nvSpPr>
          <p:cNvPr id="97291" name="Line 33"/>
          <p:cNvSpPr>
            <a:spLocks noChangeShapeType="1"/>
          </p:cNvSpPr>
          <p:nvPr/>
        </p:nvSpPr>
        <p:spPr bwMode="auto">
          <a:xfrm>
            <a:off x="47244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2" name="Line 34"/>
          <p:cNvSpPr>
            <a:spLocks noChangeShapeType="1"/>
          </p:cNvSpPr>
          <p:nvPr/>
        </p:nvSpPr>
        <p:spPr bwMode="auto">
          <a:xfrm>
            <a:off x="53340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3" name="Line 35"/>
          <p:cNvSpPr>
            <a:spLocks noChangeShapeType="1"/>
          </p:cNvSpPr>
          <p:nvPr/>
        </p:nvSpPr>
        <p:spPr bwMode="auto">
          <a:xfrm>
            <a:off x="59436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4" name="Line 36"/>
          <p:cNvSpPr>
            <a:spLocks noChangeShapeType="1"/>
          </p:cNvSpPr>
          <p:nvPr/>
        </p:nvSpPr>
        <p:spPr bwMode="auto">
          <a:xfrm>
            <a:off x="78486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5" name="Text Box 37"/>
          <p:cNvSpPr txBox="1">
            <a:spLocks noChangeArrowheads="1"/>
          </p:cNvSpPr>
          <p:nvPr/>
        </p:nvSpPr>
        <p:spPr bwMode="auto">
          <a:xfrm>
            <a:off x="2574925" y="5527675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Calibri" panose="020F0502020204030204" pitchFamily="34" charset="0"/>
              </a:rPr>
              <a:t>entry[0] = = *entry</a:t>
            </a:r>
          </a:p>
        </p:txBody>
      </p:sp>
      <p:sp>
        <p:nvSpPr>
          <p:cNvPr id="37927" name="Text Box 39"/>
          <p:cNvSpPr txBox="1">
            <a:spLocks noChangeArrowheads="1"/>
          </p:cNvSpPr>
          <p:nvPr/>
        </p:nvSpPr>
        <p:spPr bwMode="auto">
          <a:xfrm>
            <a:off x="7146925" y="5451476"/>
            <a:ext cx="26479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Calibri" panose="020F0502020204030204" pitchFamily="34" charset="0"/>
              </a:rPr>
              <a:t>NO HEAP MEMORY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Calibri" panose="020F0502020204030204" pitchFamily="34" charset="0"/>
              </a:rPr>
              <a:t>SPACE IN USE!</a:t>
            </a:r>
          </a:p>
        </p:txBody>
      </p:sp>
    </p:spTree>
    <p:extLst>
      <p:ext uri="{BB962C8B-B14F-4D97-AF65-F5344CB8AC3E}">
        <p14:creationId xmlns:p14="http://schemas.microsoft.com/office/powerpoint/2010/main" val="4907528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686800" cy="11430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4800">
                <a:solidFill>
                  <a:schemeClr val="accent2"/>
                </a:solidFill>
                <a:latin typeface="Calibri" panose="020F0502020204030204" pitchFamily="34" charset="0"/>
              </a:rPr>
              <a:t>C++ dynamic arrays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752600"/>
            <a:ext cx="8229600" cy="41148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mtClean="0">
                <a:latin typeface="Calibri" panose="020F0502020204030204" pitchFamily="34" charset="0"/>
              </a:rPr>
              <a:t>can use dynamic memory allocation to postpone decision about array capacity until run-time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>
                <a:latin typeface="Calibri" panose="020F0502020204030204" pitchFamily="34" charset="0"/>
              </a:rPr>
              <a:t>array space will be on the heap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>
                <a:latin typeface="Calibri" panose="020F0502020204030204" pitchFamily="34" charset="0"/>
              </a:rPr>
              <a:t>pointer to array's beginning is </a:t>
            </a:r>
            <a:r>
              <a:rPr lang="en-US" altLang="en-US" b="1" smtClean="0">
                <a:latin typeface="Calibri" panose="020F0502020204030204" pitchFamily="34" charset="0"/>
              </a:rPr>
              <a:t>not </a:t>
            </a:r>
            <a:r>
              <a:rPr lang="en-US" altLang="en-US" smtClean="0">
                <a:latin typeface="Calibri" panose="020F0502020204030204" pitchFamily="34" charset="0"/>
              </a:rPr>
              <a:t>on the heap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362201" y="4495800"/>
            <a:ext cx="8043863" cy="1905000"/>
            <a:chOff x="528" y="2832"/>
            <a:chExt cx="5067" cy="1200"/>
          </a:xfrm>
        </p:grpSpPr>
        <p:sp>
          <p:nvSpPr>
            <p:cNvPr id="99333" name="Rectangle 5"/>
            <p:cNvSpPr>
              <a:spLocks noChangeArrowheads="1"/>
            </p:cNvSpPr>
            <p:nvPr/>
          </p:nvSpPr>
          <p:spPr bwMode="auto">
            <a:xfrm>
              <a:off x="528" y="2832"/>
              <a:ext cx="4896" cy="120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99334" name="Text Box 4"/>
            <p:cNvSpPr txBox="1">
              <a:spLocks noChangeArrowheads="1"/>
            </p:cNvSpPr>
            <p:nvPr/>
          </p:nvSpPr>
          <p:spPr bwMode="auto">
            <a:xfrm>
              <a:off x="624" y="2928"/>
              <a:ext cx="4971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669900"/>
                  </a:solidFill>
                  <a:latin typeface="Calibri" panose="020F0502020204030204" pitchFamily="34" charset="0"/>
                </a:rPr>
                <a:t>float * dynArray;  // declare pointer only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669900"/>
                  </a:solidFill>
                  <a:latin typeface="Calibri" panose="020F0502020204030204" pitchFamily="34" charset="0"/>
                </a:rPr>
                <a:t>dynArray = new float [max];  // max is a variable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669900"/>
                  </a:solidFill>
                  <a:latin typeface="Calibri" panose="020F0502020204030204" pitchFamily="34" charset="0"/>
                </a:rPr>
                <a:t>// use of dynamic array the same as use of an automatic array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669900"/>
                  </a:solidFill>
                  <a:latin typeface="Calibri" panose="020F0502020204030204" pitchFamily="34" charset="0"/>
                </a:rPr>
                <a:t>delete [ ] dynArray;  // free heap 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10830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1981200" y="990600"/>
            <a:ext cx="8382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const int SIZE = 10;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double *ptr = new double[SIZE]; </a:t>
            </a:r>
            <a:r>
              <a:rPr lang="en-US" altLang="en-US" sz="2400" b="1">
                <a:solidFill>
                  <a:srgbClr val="1503F9"/>
                </a:solidFill>
                <a:latin typeface="Calibri" panose="020F0502020204030204" pitchFamily="34" charset="0"/>
              </a:rPr>
              <a:t>/*10 element array*/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int i;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for (i=0; i&lt;SIZE; i++)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	ptr[i] = 2.0*i;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for (i=0; i&lt;SIZE; i++)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	cout &lt;&lt; ptr[i] &lt;&lt; endl;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delete []ptr;</a:t>
            </a: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2209800" y="381000"/>
            <a:ext cx="777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en-US" sz="4800" dirty="0">
                <a:solidFill>
                  <a:schemeClr val="accent2"/>
                </a:solidFill>
                <a:latin typeface="Calibri" pitchFamily="34" charset="0"/>
                <a:ea typeface="+mj-ea"/>
                <a:cs typeface="Calibri" pitchFamily="34" charset="0"/>
              </a:rPr>
              <a:t>Dynamic Allocation</a:t>
            </a:r>
          </a:p>
        </p:txBody>
      </p:sp>
    </p:spTree>
    <p:extLst>
      <p:ext uri="{BB962C8B-B14F-4D97-AF65-F5344CB8AC3E}">
        <p14:creationId xmlns:p14="http://schemas.microsoft.com/office/powerpoint/2010/main" val="214639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4800">
                <a:solidFill>
                  <a:schemeClr val="accent2"/>
                </a:solidFill>
                <a:latin typeface="Calibri" panose="020F0502020204030204" pitchFamily="34" charset="0"/>
              </a:rPr>
              <a:t>Array of Pointers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990600"/>
            <a:ext cx="5562600" cy="586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/>
              <a:t> </a:t>
            </a:r>
            <a:r>
              <a:rPr lang="en-US" altLang="en-US" sz="2000">
                <a:latin typeface="Calibri" panose="020F0502020204030204" pitchFamily="34" charset="0"/>
              </a:rPr>
              <a:t>const int RSIZE = 4;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const int CSIZE = 6;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</a:t>
            </a: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</a:rPr>
              <a:t>int * iarray[RSIZE];  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for(int k=0; k&lt;RSIZE; k++)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</a:t>
            </a: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</a:rPr>
              <a:t>iarray[k] = new int [CSIZE];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if (iarray[k] == NULL)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{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	cerr &lt;&lt; “Memory Allocation Error…\n”;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	cerr &lt;&lt; “Exiting …\n”;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	exit(-1);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} 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}</a:t>
            </a:r>
          </a:p>
        </p:txBody>
      </p:sp>
      <p:sp>
        <p:nvSpPr>
          <p:cNvPr id="102404" name="Text Box 5"/>
          <p:cNvSpPr txBox="1">
            <a:spLocks noChangeArrowheads="1"/>
          </p:cNvSpPr>
          <p:nvPr/>
        </p:nvSpPr>
        <p:spPr bwMode="auto">
          <a:xfrm>
            <a:off x="7467600" y="1066800"/>
            <a:ext cx="2787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 two dimensional array of RSIZE*CSIZE</a:t>
            </a:r>
          </a:p>
        </p:txBody>
      </p:sp>
      <p:grpSp>
        <p:nvGrpSpPr>
          <p:cNvPr id="102405" name="Group 42"/>
          <p:cNvGrpSpPr>
            <a:grpSpLocks/>
          </p:cNvGrpSpPr>
          <p:nvPr/>
        </p:nvGrpSpPr>
        <p:grpSpPr bwMode="auto">
          <a:xfrm>
            <a:off x="7223126" y="2514600"/>
            <a:ext cx="2987675" cy="1828800"/>
            <a:chOff x="3590" y="1344"/>
            <a:chExt cx="1882" cy="1152"/>
          </a:xfrm>
        </p:grpSpPr>
        <p:sp>
          <p:nvSpPr>
            <p:cNvPr id="102406" name="Rectangle 6"/>
            <p:cNvSpPr>
              <a:spLocks noChangeArrowheads="1"/>
            </p:cNvSpPr>
            <p:nvPr/>
          </p:nvSpPr>
          <p:spPr bwMode="auto">
            <a:xfrm>
              <a:off x="3792" y="1632"/>
              <a:ext cx="432" cy="7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407" name="Line 7"/>
            <p:cNvSpPr>
              <a:spLocks noChangeShapeType="1"/>
            </p:cNvSpPr>
            <p:nvPr/>
          </p:nvSpPr>
          <p:spPr bwMode="auto">
            <a:xfrm>
              <a:off x="3792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08" name="Line 8"/>
            <p:cNvSpPr>
              <a:spLocks noChangeShapeType="1"/>
            </p:cNvSpPr>
            <p:nvPr/>
          </p:nvSpPr>
          <p:spPr bwMode="auto">
            <a:xfrm>
              <a:off x="3792" y="22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09" name="Line 9"/>
            <p:cNvSpPr>
              <a:spLocks noChangeShapeType="1"/>
            </p:cNvSpPr>
            <p:nvPr/>
          </p:nvSpPr>
          <p:spPr bwMode="auto">
            <a:xfrm>
              <a:off x="3792" y="182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0" name="Rectangle 10"/>
            <p:cNvSpPr>
              <a:spLocks noChangeArrowheads="1"/>
            </p:cNvSpPr>
            <p:nvPr/>
          </p:nvSpPr>
          <p:spPr bwMode="auto">
            <a:xfrm>
              <a:off x="4512" y="1584"/>
              <a:ext cx="91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411" name="Line 11"/>
            <p:cNvSpPr>
              <a:spLocks noChangeShapeType="1"/>
            </p:cNvSpPr>
            <p:nvPr/>
          </p:nvSpPr>
          <p:spPr bwMode="auto">
            <a:xfrm>
              <a:off x="4992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2" name="Line 12"/>
            <p:cNvSpPr>
              <a:spLocks noChangeShapeType="1"/>
            </p:cNvSpPr>
            <p:nvPr/>
          </p:nvSpPr>
          <p:spPr bwMode="auto">
            <a:xfrm>
              <a:off x="5136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3" name="Line 13"/>
            <p:cNvSpPr>
              <a:spLocks noChangeShapeType="1"/>
            </p:cNvSpPr>
            <p:nvPr/>
          </p:nvSpPr>
          <p:spPr bwMode="auto">
            <a:xfrm>
              <a:off x="5280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4" name="Line 14"/>
            <p:cNvSpPr>
              <a:spLocks noChangeShapeType="1"/>
            </p:cNvSpPr>
            <p:nvPr/>
          </p:nvSpPr>
          <p:spPr bwMode="auto">
            <a:xfrm>
              <a:off x="4848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5" name="Line 15"/>
            <p:cNvSpPr>
              <a:spLocks noChangeShapeType="1"/>
            </p:cNvSpPr>
            <p:nvPr/>
          </p:nvSpPr>
          <p:spPr bwMode="auto">
            <a:xfrm>
              <a:off x="4704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6" name="Rectangle 16"/>
            <p:cNvSpPr>
              <a:spLocks noChangeArrowheads="1"/>
            </p:cNvSpPr>
            <p:nvPr/>
          </p:nvSpPr>
          <p:spPr bwMode="auto">
            <a:xfrm>
              <a:off x="4512" y="1824"/>
              <a:ext cx="91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417" name="Line 17"/>
            <p:cNvSpPr>
              <a:spLocks noChangeShapeType="1"/>
            </p:cNvSpPr>
            <p:nvPr/>
          </p:nvSpPr>
          <p:spPr bwMode="auto">
            <a:xfrm>
              <a:off x="4992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8" name="Line 18"/>
            <p:cNvSpPr>
              <a:spLocks noChangeShapeType="1"/>
            </p:cNvSpPr>
            <p:nvPr/>
          </p:nvSpPr>
          <p:spPr bwMode="auto">
            <a:xfrm>
              <a:off x="5136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19" name="Line 19"/>
            <p:cNvSpPr>
              <a:spLocks noChangeShapeType="1"/>
            </p:cNvSpPr>
            <p:nvPr/>
          </p:nvSpPr>
          <p:spPr bwMode="auto">
            <a:xfrm>
              <a:off x="5280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0" name="Line 20"/>
            <p:cNvSpPr>
              <a:spLocks noChangeShapeType="1"/>
            </p:cNvSpPr>
            <p:nvPr/>
          </p:nvSpPr>
          <p:spPr bwMode="auto">
            <a:xfrm>
              <a:off x="4848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1" name="Line 21"/>
            <p:cNvSpPr>
              <a:spLocks noChangeShapeType="1"/>
            </p:cNvSpPr>
            <p:nvPr/>
          </p:nvSpPr>
          <p:spPr bwMode="auto">
            <a:xfrm>
              <a:off x="4704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2" name="Rectangle 22"/>
            <p:cNvSpPr>
              <a:spLocks noChangeArrowheads="1"/>
            </p:cNvSpPr>
            <p:nvPr/>
          </p:nvSpPr>
          <p:spPr bwMode="auto">
            <a:xfrm>
              <a:off x="4512" y="2064"/>
              <a:ext cx="91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423" name="Line 23"/>
            <p:cNvSpPr>
              <a:spLocks noChangeShapeType="1"/>
            </p:cNvSpPr>
            <p:nvPr/>
          </p:nvSpPr>
          <p:spPr bwMode="auto">
            <a:xfrm>
              <a:off x="4992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4" name="Line 24"/>
            <p:cNvSpPr>
              <a:spLocks noChangeShapeType="1"/>
            </p:cNvSpPr>
            <p:nvPr/>
          </p:nvSpPr>
          <p:spPr bwMode="auto">
            <a:xfrm>
              <a:off x="5136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5" name="Line 25"/>
            <p:cNvSpPr>
              <a:spLocks noChangeShapeType="1"/>
            </p:cNvSpPr>
            <p:nvPr/>
          </p:nvSpPr>
          <p:spPr bwMode="auto">
            <a:xfrm>
              <a:off x="528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6" name="Line 26"/>
            <p:cNvSpPr>
              <a:spLocks noChangeShapeType="1"/>
            </p:cNvSpPr>
            <p:nvPr/>
          </p:nvSpPr>
          <p:spPr bwMode="auto">
            <a:xfrm>
              <a:off x="4848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7" name="Line 27"/>
            <p:cNvSpPr>
              <a:spLocks noChangeShapeType="1"/>
            </p:cNvSpPr>
            <p:nvPr/>
          </p:nvSpPr>
          <p:spPr bwMode="auto">
            <a:xfrm>
              <a:off x="470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28" name="Rectangle 28"/>
            <p:cNvSpPr>
              <a:spLocks noChangeArrowheads="1"/>
            </p:cNvSpPr>
            <p:nvPr/>
          </p:nvSpPr>
          <p:spPr bwMode="auto">
            <a:xfrm>
              <a:off x="4512" y="2304"/>
              <a:ext cx="91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429" name="Line 29"/>
            <p:cNvSpPr>
              <a:spLocks noChangeShapeType="1"/>
            </p:cNvSpPr>
            <p:nvPr/>
          </p:nvSpPr>
          <p:spPr bwMode="auto">
            <a:xfrm>
              <a:off x="4992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0" name="Line 30"/>
            <p:cNvSpPr>
              <a:spLocks noChangeShapeType="1"/>
            </p:cNvSpPr>
            <p:nvPr/>
          </p:nvSpPr>
          <p:spPr bwMode="auto">
            <a:xfrm>
              <a:off x="5136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1" name="Line 31"/>
            <p:cNvSpPr>
              <a:spLocks noChangeShapeType="1"/>
            </p:cNvSpPr>
            <p:nvPr/>
          </p:nvSpPr>
          <p:spPr bwMode="auto">
            <a:xfrm>
              <a:off x="5280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2" name="Line 32"/>
            <p:cNvSpPr>
              <a:spLocks noChangeShapeType="1"/>
            </p:cNvSpPr>
            <p:nvPr/>
          </p:nvSpPr>
          <p:spPr bwMode="auto">
            <a:xfrm>
              <a:off x="4848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3" name="Line 33"/>
            <p:cNvSpPr>
              <a:spLocks noChangeShapeType="1"/>
            </p:cNvSpPr>
            <p:nvPr/>
          </p:nvSpPr>
          <p:spPr bwMode="auto">
            <a:xfrm>
              <a:off x="4704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4" name="Line 35"/>
            <p:cNvSpPr>
              <a:spLocks noChangeShapeType="1"/>
            </p:cNvSpPr>
            <p:nvPr/>
          </p:nvSpPr>
          <p:spPr bwMode="auto">
            <a:xfrm>
              <a:off x="4224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5" name="Line 36"/>
            <p:cNvSpPr>
              <a:spLocks noChangeShapeType="1"/>
            </p:cNvSpPr>
            <p:nvPr/>
          </p:nvSpPr>
          <p:spPr bwMode="auto">
            <a:xfrm>
              <a:off x="4224" y="21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6" name="Line 37"/>
            <p:cNvSpPr>
              <a:spLocks noChangeShapeType="1"/>
            </p:cNvSpPr>
            <p:nvPr/>
          </p:nvSpPr>
          <p:spPr bwMode="auto">
            <a:xfrm>
              <a:off x="4224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7" name="Line 38"/>
            <p:cNvSpPr>
              <a:spLocks noChangeShapeType="1"/>
            </p:cNvSpPr>
            <p:nvPr/>
          </p:nvSpPr>
          <p:spPr bwMode="auto">
            <a:xfrm>
              <a:off x="4224" y="168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8" name="Text Box 39"/>
            <p:cNvSpPr txBox="1">
              <a:spLocks noChangeArrowheads="1"/>
            </p:cNvSpPr>
            <p:nvPr/>
          </p:nvSpPr>
          <p:spPr bwMode="auto">
            <a:xfrm>
              <a:off x="3734" y="1401"/>
              <a:ext cx="4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iarray</a:t>
              </a:r>
            </a:p>
          </p:txBody>
        </p:sp>
        <p:sp>
          <p:nvSpPr>
            <p:cNvPr id="102439" name="Text Box 40"/>
            <p:cNvSpPr txBox="1">
              <a:spLocks noChangeArrowheads="1"/>
            </p:cNvSpPr>
            <p:nvPr/>
          </p:nvSpPr>
          <p:spPr bwMode="auto">
            <a:xfrm>
              <a:off x="3590" y="1593"/>
              <a:ext cx="196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2440" name="Text Box 41"/>
            <p:cNvSpPr txBox="1">
              <a:spLocks noChangeArrowheads="1"/>
            </p:cNvSpPr>
            <p:nvPr/>
          </p:nvSpPr>
          <p:spPr bwMode="auto">
            <a:xfrm>
              <a:off x="4540" y="1344"/>
              <a:ext cx="9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0 1 2 3 4 5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235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4800">
                <a:solidFill>
                  <a:schemeClr val="accent2"/>
                </a:solidFill>
                <a:latin typeface="Calibri" panose="020F0502020204030204" pitchFamily="34" charset="0"/>
              </a:rPr>
              <a:t>Double and Tripple Pointers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600200"/>
            <a:ext cx="6019800" cy="5257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int a = 20;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int *ip = &amp;a;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int **ipp = &amp;ip;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int ***ippp = &amp;ipp;</a:t>
            </a:r>
          </a:p>
          <a:p>
            <a:pPr eaLnBrk="1" hangingPunct="1">
              <a:buFontTx/>
              <a:buNone/>
            </a:pPr>
            <a:endParaRPr lang="en-US" altLang="en-US" sz="2100">
              <a:latin typeface="Calibri" panose="020F0502020204030204" pitchFamily="34" charset="0"/>
            </a:endParaRPr>
          </a:p>
          <a:p>
            <a:pPr eaLnBrk="1" hangingPunct="1">
              <a:buFontTx/>
              <a:buNone/>
            </a:pPr>
            <a:endParaRPr lang="en-US" altLang="en-US" sz="2100">
              <a:latin typeface="Calibri" panose="020F0502020204030204" pitchFamily="34" charset="0"/>
            </a:endParaRPr>
          </a:p>
          <a:p>
            <a:pPr eaLnBrk="1" hangingPunct="1">
              <a:buFontTx/>
              <a:buNone/>
            </a:pPr>
            <a:endParaRPr lang="en-US" altLang="en-US" sz="2100">
              <a:latin typeface="Calibri" panose="020F05020202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cout &lt;&lt; a &lt;&lt; endl;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cout &lt;&lt; ip &lt;&lt; *ip &lt;&lt; endl;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cout &lt;&lt; ipp &lt;&lt; *ipp &lt;&lt; **ipp &lt;&lt; endl;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latin typeface="Calibri" panose="020F0502020204030204" pitchFamily="34" charset="0"/>
              </a:rPr>
              <a:t> cout &lt;&lt; ippp &lt;&lt; *ippp &lt;&lt; **ippp &lt;&lt; ***ippp &lt;&lt; endl;</a:t>
            </a:r>
          </a:p>
        </p:txBody>
      </p:sp>
      <p:grpSp>
        <p:nvGrpSpPr>
          <p:cNvPr id="103428" name="Group 20"/>
          <p:cNvGrpSpPr>
            <a:grpSpLocks/>
          </p:cNvGrpSpPr>
          <p:nvPr/>
        </p:nvGrpSpPr>
        <p:grpSpPr bwMode="auto">
          <a:xfrm>
            <a:off x="6842126" y="1905001"/>
            <a:ext cx="3444875" cy="1311275"/>
            <a:chOff x="3024" y="1200"/>
            <a:chExt cx="2170" cy="826"/>
          </a:xfrm>
        </p:grpSpPr>
        <p:sp>
          <p:nvSpPr>
            <p:cNvPr id="103430" name="Rectangle 4"/>
            <p:cNvSpPr>
              <a:spLocks noChangeArrowheads="1"/>
            </p:cNvSpPr>
            <p:nvPr/>
          </p:nvSpPr>
          <p:spPr bwMode="auto">
            <a:xfrm>
              <a:off x="4848" y="1200"/>
              <a:ext cx="33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03431" name="Text Box 6"/>
            <p:cNvSpPr txBox="1">
              <a:spLocks noChangeArrowheads="1"/>
            </p:cNvSpPr>
            <p:nvPr/>
          </p:nvSpPr>
          <p:spPr bwMode="auto">
            <a:xfrm>
              <a:off x="4886" y="141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3432" name="Text Box 7"/>
            <p:cNvSpPr txBox="1">
              <a:spLocks noChangeArrowheads="1"/>
            </p:cNvSpPr>
            <p:nvPr/>
          </p:nvSpPr>
          <p:spPr bwMode="auto">
            <a:xfrm>
              <a:off x="4838" y="177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03433" name="Rectangle 8"/>
            <p:cNvSpPr>
              <a:spLocks noChangeArrowheads="1"/>
            </p:cNvSpPr>
            <p:nvPr/>
          </p:nvSpPr>
          <p:spPr bwMode="auto">
            <a:xfrm>
              <a:off x="4282" y="1200"/>
              <a:ext cx="33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03434" name="Text Box 9"/>
            <p:cNvSpPr txBox="1">
              <a:spLocks noChangeArrowheads="1"/>
            </p:cNvSpPr>
            <p:nvPr/>
          </p:nvSpPr>
          <p:spPr bwMode="auto">
            <a:xfrm>
              <a:off x="4320" y="141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ip</a:t>
              </a:r>
            </a:p>
          </p:txBody>
        </p:sp>
        <p:sp>
          <p:nvSpPr>
            <p:cNvPr id="103435" name="Text Box 10"/>
            <p:cNvSpPr txBox="1">
              <a:spLocks noChangeArrowheads="1"/>
            </p:cNvSpPr>
            <p:nvPr/>
          </p:nvSpPr>
          <p:spPr bwMode="auto">
            <a:xfrm>
              <a:off x="4272" y="177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200</a:t>
              </a:r>
            </a:p>
          </p:txBody>
        </p:sp>
        <p:sp>
          <p:nvSpPr>
            <p:cNvPr id="103436" name="Rectangle 11"/>
            <p:cNvSpPr>
              <a:spLocks noChangeArrowheads="1"/>
            </p:cNvSpPr>
            <p:nvPr/>
          </p:nvSpPr>
          <p:spPr bwMode="auto">
            <a:xfrm>
              <a:off x="3658" y="1200"/>
              <a:ext cx="33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200</a:t>
              </a:r>
            </a:p>
          </p:txBody>
        </p:sp>
        <p:sp>
          <p:nvSpPr>
            <p:cNvPr id="103437" name="Text Box 12"/>
            <p:cNvSpPr txBox="1">
              <a:spLocks noChangeArrowheads="1"/>
            </p:cNvSpPr>
            <p:nvPr/>
          </p:nvSpPr>
          <p:spPr bwMode="auto">
            <a:xfrm>
              <a:off x="3696" y="1418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ipp</a:t>
              </a:r>
            </a:p>
          </p:txBody>
        </p:sp>
        <p:sp>
          <p:nvSpPr>
            <p:cNvPr id="103438" name="Text Box 13"/>
            <p:cNvSpPr txBox="1">
              <a:spLocks noChangeArrowheads="1"/>
            </p:cNvSpPr>
            <p:nvPr/>
          </p:nvSpPr>
          <p:spPr bwMode="auto">
            <a:xfrm>
              <a:off x="3648" y="177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300</a:t>
              </a:r>
            </a:p>
          </p:txBody>
        </p:sp>
        <p:sp>
          <p:nvSpPr>
            <p:cNvPr id="103439" name="Rectangle 14"/>
            <p:cNvSpPr>
              <a:spLocks noChangeArrowheads="1"/>
            </p:cNvSpPr>
            <p:nvPr/>
          </p:nvSpPr>
          <p:spPr bwMode="auto">
            <a:xfrm>
              <a:off x="3034" y="1200"/>
              <a:ext cx="33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300</a:t>
              </a:r>
            </a:p>
          </p:txBody>
        </p:sp>
        <p:sp>
          <p:nvSpPr>
            <p:cNvPr id="103440" name="Text Box 15"/>
            <p:cNvSpPr txBox="1">
              <a:spLocks noChangeArrowheads="1"/>
            </p:cNvSpPr>
            <p:nvPr/>
          </p:nvSpPr>
          <p:spPr bwMode="auto">
            <a:xfrm>
              <a:off x="3072" y="1418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ippp</a:t>
              </a:r>
            </a:p>
          </p:txBody>
        </p:sp>
        <p:sp>
          <p:nvSpPr>
            <p:cNvPr id="103441" name="Text Box 16"/>
            <p:cNvSpPr txBox="1">
              <a:spLocks noChangeArrowheads="1"/>
            </p:cNvSpPr>
            <p:nvPr/>
          </p:nvSpPr>
          <p:spPr bwMode="auto">
            <a:xfrm>
              <a:off x="3024" y="177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400</a:t>
              </a:r>
            </a:p>
          </p:txBody>
        </p:sp>
        <p:sp>
          <p:nvSpPr>
            <p:cNvPr id="103442" name="Line 17"/>
            <p:cNvSpPr>
              <a:spLocks noChangeShapeType="1"/>
            </p:cNvSpPr>
            <p:nvPr/>
          </p:nvSpPr>
          <p:spPr bwMode="auto">
            <a:xfrm>
              <a:off x="4608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3" name="Line 18"/>
            <p:cNvSpPr>
              <a:spLocks noChangeShapeType="1"/>
            </p:cNvSpPr>
            <p:nvPr/>
          </p:nvSpPr>
          <p:spPr bwMode="auto">
            <a:xfrm>
              <a:off x="4032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4" name="Line 19"/>
            <p:cNvSpPr>
              <a:spLocks noChangeShapeType="1"/>
            </p:cNvSpPr>
            <p:nvPr/>
          </p:nvSpPr>
          <p:spPr bwMode="auto">
            <a:xfrm>
              <a:off x="3408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3429" name="Text Box 21"/>
          <p:cNvSpPr txBox="1">
            <a:spLocks noChangeArrowheads="1"/>
          </p:cNvSpPr>
          <p:nvPr/>
        </p:nvSpPr>
        <p:spPr bwMode="auto">
          <a:xfrm>
            <a:off x="8077200" y="4572000"/>
            <a:ext cx="2108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</a:rPr>
              <a:t>20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</a:rPr>
              <a:t>100 20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</a:rPr>
              <a:t>200 100 20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</a:rPr>
              <a:t>300 200 100 20</a:t>
            </a:r>
          </a:p>
        </p:txBody>
      </p:sp>
    </p:spTree>
    <p:extLst>
      <p:ext uri="{BB962C8B-B14F-4D97-AF65-F5344CB8AC3E}">
        <p14:creationId xmlns:p14="http://schemas.microsoft.com/office/powerpoint/2010/main" val="20464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4800">
                <a:solidFill>
                  <a:schemeClr val="accent2"/>
                </a:solidFill>
                <a:latin typeface="Calibri" panose="020F0502020204030204" pitchFamily="34" charset="0"/>
              </a:rPr>
              <a:t>Dynamic Array of Pointers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990600"/>
            <a:ext cx="5562600" cy="5867400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sz="2000"/>
              <a:t> </a:t>
            </a:r>
            <a:r>
              <a:rPr lang="en-US" altLang="en-US" sz="2000">
                <a:latin typeface="Calibri" panose="020F0502020204030204" pitchFamily="34" charset="0"/>
              </a:rPr>
              <a:t>const int RSIZE = 4;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const int CSIZE = 6;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</a:t>
            </a:r>
            <a:r>
              <a:rPr lang="en-US" altLang="en-US" sz="2000" b="1">
                <a:solidFill>
                  <a:srgbClr val="FF0000"/>
                </a:solidFill>
                <a:latin typeface="Calibri" panose="020F0502020204030204" pitchFamily="34" charset="0"/>
              </a:rPr>
              <a:t>int ** matrix;   // ( Note ** here 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</a:t>
            </a: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</a:rPr>
              <a:t>matrix = new int * [RSIZE];</a:t>
            </a:r>
          </a:p>
          <a:p>
            <a:pPr eaLnBrk="1" hangingPunct="1">
              <a:buFontTx/>
              <a:buNone/>
            </a:pPr>
            <a:endParaRPr lang="en-US" altLang="en-US" sz="2000">
              <a:latin typeface="Calibri" panose="020F05020202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for(int k=0; k&lt;RSIZE; k++)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</a:t>
            </a: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</a:rPr>
              <a:t>matrix[k] = new int [CSIZE];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if (matrix[k] == NULL)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{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	cerr &lt;&lt; “Memory Allocation Error…\n”;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	cerr &lt;&lt; “Exiting …\n”;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	exit(-1);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	} 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alibri" panose="020F0502020204030204" pitchFamily="34" charset="0"/>
              </a:rPr>
              <a:t> }</a:t>
            </a:r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7467600" y="1066801"/>
            <a:ext cx="2787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</a:rPr>
              <a:t>A two dimensional array of RSIZE*CSIZE</a:t>
            </a:r>
          </a:p>
        </p:txBody>
      </p:sp>
      <p:sp>
        <p:nvSpPr>
          <p:cNvPr id="104453" name="Rectangle 6"/>
          <p:cNvSpPr>
            <a:spLocks noChangeArrowheads="1"/>
          </p:cNvSpPr>
          <p:nvPr/>
        </p:nvSpPr>
        <p:spPr bwMode="auto">
          <a:xfrm>
            <a:off x="7543800" y="2971800"/>
            <a:ext cx="6858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4" name="Line 7"/>
          <p:cNvSpPr>
            <a:spLocks noChangeShapeType="1"/>
          </p:cNvSpPr>
          <p:nvPr/>
        </p:nvSpPr>
        <p:spPr bwMode="auto">
          <a:xfrm>
            <a:off x="7543800" y="3581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5" name="Line 8"/>
          <p:cNvSpPr>
            <a:spLocks noChangeShapeType="1"/>
          </p:cNvSpPr>
          <p:nvPr/>
        </p:nvSpPr>
        <p:spPr bwMode="auto">
          <a:xfrm>
            <a:off x="7543800" y="3886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6" name="Line 9"/>
          <p:cNvSpPr>
            <a:spLocks noChangeShapeType="1"/>
          </p:cNvSpPr>
          <p:nvPr/>
        </p:nvSpPr>
        <p:spPr bwMode="auto">
          <a:xfrm>
            <a:off x="7543800" y="3276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7" name="Rectangle 10"/>
          <p:cNvSpPr>
            <a:spLocks noChangeArrowheads="1"/>
          </p:cNvSpPr>
          <p:nvPr/>
        </p:nvSpPr>
        <p:spPr bwMode="auto">
          <a:xfrm>
            <a:off x="8686800" y="2895600"/>
            <a:ext cx="1447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8" name="Line 11"/>
          <p:cNvSpPr>
            <a:spLocks noChangeShapeType="1"/>
          </p:cNvSpPr>
          <p:nvPr/>
        </p:nvSpPr>
        <p:spPr bwMode="auto">
          <a:xfrm>
            <a:off x="94488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9" name="Line 12"/>
          <p:cNvSpPr>
            <a:spLocks noChangeShapeType="1"/>
          </p:cNvSpPr>
          <p:nvPr/>
        </p:nvSpPr>
        <p:spPr bwMode="auto">
          <a:xfrm>
            <a:off x="96774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0" name="Line 13"/>
          <p:cNvSpPr>
            <a:spLocks noChangeShapeType="1"/>
          </p:cNvSpPr>
          <p:nvPr/>
        </p:nvSpPr>
        <p:spPr bwMode="auto">
          <a:xfrm>
            <a:off x="99060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1" name="Line 14"/>
          <p:cNvSpPr>
            <a:spLocks noChangeShapeType="1"/>
          </p:cNvSpPr>
          <p:nvPr/>
        </p:nvSpPr>
        <p:spPr bwMode="auto">
          <a:xfrm>
            <a:off x="92202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2" name="Line 15"/>
          <p:cNvSpPr>
            <a:spLocks noChangeShapeType="1"/>
          </p:cNvSpPr>
          <p:nvPr/>
        </p:nvSpPr>
        <p:spPr bwMode="auto">
          <a:xfrm>
            <a:off x="89916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3" name="Rectangle 16"/>
          <p:cNvSpPr>
            <a:spLocks noChangeArrowheads="1"/>
          </p:cNvSpPr>
          <p:nvPr/>
        </p:nvSpPr>
        <p:spPr bwMode="auto">
          <a:xfrm>
            <a:off x="8686800" y="3276600"/>
            <a:ext cx="1447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64" name="Line 17"/>
          <p:cNvSpPr>
            <a:spLocks noChangeShapeType="1"/>
          </p:cNvSpPr>
          <p:nvPr/>
        </p:nvSpPr>
        <p:spPr bwMode="auto">
          <a:xfrm>
            <a:off x="94488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5" name="Line 18"/>
          <p:cNvSpPr>
            <a:spLocks noChangeShapeType="1"/>
          </p:cNvSpPr>
          <p:nvPr/>
        </p:nvSpPr>
        <p:spPr bwMode="auto">
          <a:xfrm>
            <a:off x="96774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6" name="Line 19"/>
          <p:cNvSpPr>
            <a:spLocks noChangeShapeType="1"/>
          </p:cNvSpPr>
          <p:nvPr/>
        </p:nvSpPr>
        <p:spPr bwMode="auto">
          <a:xfrm>
            <a:off x="9906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7" name="Line 20"/>
          <p:cNvSpPr>
            <a:spLocks noChangeShapeType="1"/>
          </p:cNvSpPr>
          <p:nvPr/>
        </p:nvSpPr>
        <p:spPr bwMode="auto">
          <a:xfrm>
            <a:off x="922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8" name="Line 21"/>
          <p:cNvSpPr>
            <a:spLocks noChangeShapeType="1"/>
          </p:cNvSpPr>
          <p:nvPr/>
        </p:nvSpPr>
        <p:spPr bwMode="auto">
          <a:xfrm>
            <a:off x="89916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9" name="Rectangle 22"/>
          <p:cNvSpPr>
            <a:spLocks noChangeArrowheads="1"/>
          </p:cNvSpPr>
          <p:nvPr/>
        </p:nvSpPr>
        <p:spPr bwMode="auto">
          <a:xfrm>
            <a:off x="8686800" y="3657600"/>
            <a:ext cx="1447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70" name="Line 23"/>
          <p:cNvSpPr>
            <a:spLocks noChangeShapeType="1"/>
          </p:cNvSpPr>
          <p:nvPr/>
        </p:nvSpPr>
        <p:spPr bwMode="auto">
          <a:xfrm>
            <a:off x="94488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1" name="Line 24"/>
          <p:cNvSpPr>
            <a:spLocks noChangeShapeType="1"/>
          </p:cNvSpPr>
          <p:nvPr/>
        </p:nvSpPr>
        <p:spPr bwMode="auto">
          <a:xfrm>
            <a:off x="96774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2" name="Line 25"/>
          <p:cNvSpPr>
            <a:spLocks noChangeShapeType="1"/>
          </p:cNvSpPr>
          <p:nvPr/>
        </p:nvSpPr>
        <p:spPr bwMode="auto">
          <a:xfrm>
            <a:off x="99060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3" name="Line 26"/>
          <p:cNvSpPr>
            <a:spLocks noChangeShapeType="1"/>
          </p:cNvSpPr>
          <p:nvPr/>
        </p:nvSpPr>
        <p:spPr bwMode="auto">
          <a:xfrm>
            <a:off x="9220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4" name="Line 27"/>
          <p:cNvSpPr>
            <a:spLocks noChangeShapeType="1"/>
          </p:cNvSpPr>
          <p:nvPr/>
        </p:nvSpPr>
        <p:spPr bwMode="auto">
          <a:xfrm>
            <a:off x="89916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5" name="Rectangle 28"/>
          <p:cNvSpPr>
            <a:spLocks noChangeArrowheads="1"/>
          </p:cNvSpPr>
          <p:nvPr/>
        </p:nvSpPr>
        <p:spPr bwMode="auto">
          <a:xfrm>
            <a:off x="8686800" y="4038600"/>
            <a:ext cx="1447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76" name="Line 29"/>
          <p:cNvSpPr>
            <a:spLocks noChangeShapeType="1"/>
          </p:cNvSpPr>
          <p:nvPr/>
        </p:nvSpPr>
        <p:spPr bwMode="auto">
          <a:xfrm>
            <a:off x="94488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7" name="Line 30"/>
          <p:cNvSpPr>
            <a:spLocks noChangeShapeType="1"/>
          </p:cNvSpPr>
          <p:nvPr/>
        </p:nvSpPr>
        <p:spPr bwMode="auto">
          <a:xfrm>
            <a:off x="96774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8" name="Line 31"/>
          <p:cNvSpPr>
            <a:spLocks noChangeShapeType="1"/>
          </p:cNvSpPr>
          <p:nvPr/>
        </p:nvSpPr>
        <p:spPr bwMode="auto">
          <a:xfrm>
            <a:off x="99060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79" name="Line 32"/>
          <p:cNvSpPr>
            <a:spLocks noChangeShapeType="1"/>
          </p:cNvSpPr>
          <p:nvPr/>
        </p:nvSpPr>
        <p:spPr bwMode="auto">
          <a:xfrm>
            <a:off x="92202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80" name="Line 33"/>
          <p:cNvSpPr>
            <a:spLocks noChangeShapeType="1"/>
          </p:cNvSpPr>
          <p:nvPr/>
        </p:nvSpPr>
        <p:spPr bwMode="auto">
          <a:xfrm>
            <a:off x="89916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81" name="Line 34"/>
          <p:cNvSpPr>
            <a:spLocks noChangeShapeType="1"/>
          </p:cNvSpPr>
          <p:nvPr/>
        </p:nvSpPr>
        <p:spPr bwMode="auto">
          <a:xfrm>
            <a:off x="8229600" y="3429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82" name="Line 35"/>
          <p:cNvSpPr>
            <a:spLocks noChangeShapeType="1"/>
          </p:cNvSpPr>
          <p:nvPr/>
        </p:nvSpPr>
        <p:spPr bwMode="auto">
          <a:xfrm>
            <a:off x="8229600" y="3733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83" name="Line 36"/>
          <p:cNvSpPr>
            <a:spLocks noChangeShapeType="1"/>
          </p:cNvSpPr>
          <p:nvPr/>
        </p:nvSpPr>
        <p:spPr bwMode="auto">
          <a:xfrm>
            <a:off x="8229600" y="4114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84" name="Line 37"/>
          <p:cNvSpPr>
            <a:spLocks noChangeShapeType="1"/>
          </p:cNvSpPr>
          <p:nvPr/>
        </p:nvSpPr>
        <p:spPr bwMode="auto">
          <a:xfrm>
            <a:off x="8229600" y="3048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85" name="Text Box 39"/>
          <p:cNvSpPr txBox="1">
            <a:spLocks noChangeArrowheads="1"/>
          </p:cNvSpPr>
          <p:nvPr/>
        </p:nvSpPr>
        <p:spPr bwMode="auto">
          <a:xfrm>
            <a:off x="7223125" y="2909889"/>
            <a:ext cx="3111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4486" name="Text Box 40"/>
          <p:cNvSpPr txBox="1">
            <a:spLocks noChangeArrowheads="1"/>
          </p:cNvSpPr>
          <p:nvPr/>
        </p:nvSpPr>
        <p:spPr bwMode="auto">
          <a:xfrm>
            <a:off x="8731250" y="2514600"/>
            <a:ext cx="147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0 1 2 3 4 5</a:t>
            </a:r>
          </a:p>
        </p:txBody>
      </p:sp>
      <p:sp>
        <p:nvSpPr>
          <p:cNvPr id="104487" name="Rectangle 41"/>
          <p:cNvSpPr>
            <a:spLocks noChangeArrowheads="1"/>
          </p:cNvSpPr>
          <p:nvPr/>
        </p:nvSpPr>
        <p:spPr bwMode="auto">
          <a:xfrm>
            <a:off x="6324600" y="2819400"/>
            <a:ext cx="685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88" name="Text Box 42"/>
          <p:cNvSpPr txBox="1">
            <a:spLocks noChangeArrowheads="1"/>
          </p:cNvSpPr>
          <p:nvPr/>
        </p:nvSpPr>
        <p:spPr bwMode="auto">
          <a:xfrm>
            <a:off x="6232525" y="2452689"/>
            <a:ext cx="84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matrix</a:t>
            </a:r>
          </a:p>
        </p:txBody>
      </p:sp>
      <p:sp>
        <p:nvSpPr>
          <p:cNvPr id="104489" name="Line 43"/>
          <p:cNvSpPr>
            <a:spLocks noChangeShapeType="1"/>
          </p:cNvSpPr>
          <p:nvPr/>
        </p:nvSpPr>
        <p:spPr bwMode="auto">
          <a:xfrm>
            <a:off x="708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1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A0667282-4FC2-4337-BED8-FEB0E2DAD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325" y="2554684"/>
            <a:ext cx="8229600" cy="1748632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en-US" altLang="en-US" sz="9600" dirty="0"/>
              <a:t>Thank You</a:t>
            </a:r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9188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8385</TotalTime>
  <Words>1673</Words>
  <Application>Microsoft Office PowerPoint</Application>
  <PresentationFormat>Widescreen</PresentationFormat>
  <Paragraphs>555</Paragraphs>
  <Slides>45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新細明體</vt:lpstr>
      <vt:lpstr>Arial</vt:lpstr>
      <vt:lpstr>Calibri</vt:lpstr>
      <vt:lpstr>Calibri Light</vt:lpstr>
      <vt:lpstr>Courier New</vt:lpstr>
      <vt:lpstr>Times New Roman</vt:lpstr>
      <vt:lpstr>Office Theme</vt:lpstr>
      <vt:lpstr>Data Structure</vt:lpstr>
      <vt:lpstr>Arrays in Data Structure</vt:lpstr>
      <vt:lpstr>PowerPoint Presentation</vt:lpstr>
      <vt:lpstr>PowerPoint Presentation</vt:lpstr>
      <vt:lpstr>Arrays</vt:lpstr>
      <vt:lpstr>PowerPoint Presentation</vt:lpstr>
      <vt:lpstr>PowerPoint Presentation</vt:lpstr>
      <vt:lpstr>Arrays in Data Structure</vt:lpstr>
      <vt:lpstr>PowerPoint Presentation</vt:lpstr>
      <vt:lpstr>Initializing Arrays</vt:lpstr>
      <vt:lpstr>Initializing Arrays</vt:lpstr>
      <vt:lpstr>Initializing Arrays</vt:lpstr>
      <vt:lpstr>PowerPoint Presentation</vt:lpstr>
      <vt:lpstr>Initializing Arrays</vt:lpstr>
      <vt:lpstr>PowerPoint Presentation</vt:lpstr>
      <vt:lpstr>PowerPoint Presentation</vt:lpstr>
      <vt:lpstr>PowerPoint Presentation</vt:lpstr>
      <vt:lpstr>Assigning One Array to Another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Multidimentional Arrays</vt:lpstr>
      <vt:lpstr>Multidimensional Array Initialization</vt:lpstr>
      <vt:lpstr>Multidimensional Arrays</vt:lpstr>
      <vt:lpstr>Multidimensional Arrays</vt:lpstr>
      <vt:lpstr>C++ automatic array</vt:lpstr>
      <vt:lpstr>C++ dynamic arrays</vt:lpstr>
      <vt:lpstr>PowerPoint Presentation</vt:lpstr>
      <vt:lpstr>Array of Pointers</vt:lpstr>
      <vt:lpstr>Double and Tripple Pointers</vt:lpstr>
      <vt:lpstr>Dynamic Array of Pointers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mudassar raza</dc:creator>
  <cp:lastModifiedBy>Mudassar Raza</cp:lastModifiedBy>
  <cp:revision>178</cp:revision>
  <dcterms:created xsi:type="dcterms:W3CDTF">2020-05-19T18:19:41Z</dcterms:created>
  <dcterms:modified xsi:type="dcterms:W3CDTF">2026-02-25T22:17:05Z</dcterms:modified>
</cp:coreProperties>
</file>