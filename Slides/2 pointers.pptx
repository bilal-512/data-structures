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7" r:id="rId2"/>
    <p:sldId id="1311" r:id="rId3"/>
    <p:sldId id="1312" r:id="rId4"/>
    <p:sldId id="1313" r:id="rId5"/>
    <p:sldId id="1314" r:id="rId6"/>
    <p:sldId id="1315" r:id="rId7"/>
    <p:sldId id="1316" r:id="rId8"/>
    <p:sldId id="1317" r:id="rId9"/>
    <p:sldId id="1318" r:id="rId10"/>
    <p:sldId id="1319" r:id="rId11"/>
    <p:sldId id="1320" r:id="rId12"/>
    <p:sldId id="1321" r:id="rId13"/>
    <p:sldId id="1322" r:id="rId14"/>
    <p:sldId id="1323" r:id="rId15"/>
    <p:sldId id="1324" r:id="rId16"/>
    <p:sldId id="1325" r:id="rId17"/>
    <p:sldId id="1326" r:id="rId18"/>
    <p:sldId id="1327" r:id="rId19"/>
    <p:sldId id="1328" r:id="rId20"/>
    <p:sldId id="1329" r:id="rId21"/>
    <p:sldId id="1330" r:id="rId22"/>
    <p:sldId id="1331" r:id="rId23"/>
    <p:sldId id="1332" r:id="rId24"/>
    <p:sldId id="131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86072" autoAdjust="0"/>
  </p:normalViewPr>
  <p:slideViewPr>
    <p:cSldViewPr snapToGrid="0">
      <p:cViewPr varScale="1">
        <p:scale>
          <a:sx n="84" d="100"/>
          <a:sy n="84" d="100"/>
        </p:scale>
        <p:origin x="49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A5D430B-9103-41AC-9C46-9389768018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C40D0-1BEF-497D-9B7D-1B411C08ACE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605A6D-0304-4A79-AA38-5313A5D7B89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AF851F-BDD8-4C9C-85E2-BD54A9BB778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086BB9-C89B-425C-B7CF-B72BC8B77A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173CAE-E154-4F95-B6A2-112072D2D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8092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AD1E4D-481E-4B7F-BF08-34B3E3B8B6B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DE04C5-1AD6-4988-801F-A2CA2774D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867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id="{2DDCDBD7-96EA-4F50-A803-9E1B5ADF65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id="{8939C58C-7A32-4947-918F-CEF82CC5A5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dirty="0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id="{903B8912-9F81-41C3-9FBC-3605D30051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E672888-03EF-4C67-A8C8-7633F664C2C8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fld id="{B554B964-204B-4CAA-95F8-46B372997F56}" type="slidenum">
              <a:rPr lang="en-US" altLang="en-US">
                <a:latin typeface="Times New Roman" panose="02020603050405020304" pitchFamily="18" charset="0"/>
              </a:rPr>
              <a:pPr/>
              <a:t>15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57959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fld id="{CB559A64-62D1-466F-9501-5C46B9A58CCB}" type="slidenum">
              <a:rPr lang="en-US" altLang="en-US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10360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fld id="{431045A6-2F6F-442C-A293-028438C0D42F}" type="slidenum">
              <a:rPr lang="en-US" altLang="en-US">
                <a:latin typeface="Times New Roman" panose="02020603050405020304" pitchFamily="18" charset="0"/>
              </a:rPr>
              <a:pPr/>
              <a:t>17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823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fld id="{4D4CD894-5358-4206-84DA-819536CB81E2}" type="slidenum">
              <a:rPr lang="en-US" altLang="en-US">
                <a:latin typeface="Times New Roman" panose="02020603050405020304" pitchFamily="18" charset="0"/>
              </a:rPr>
              <a:pPr/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24882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fld id="{E2FF5E25-F987-4B22-8069-2CE124659658}" type="slidenum">
              <a:rPr lang="en-US" altLang="en-US">
                <a:latin typeface="Times New Roman" panose="02020603050405020304" pitchFamily="18" charset="0"/>
              </a:rPr>
              <a:pPr/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4003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20324-9583-4931-B301-22FE451975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25CD17-CF46-4C89-93F3-0E01AB19CA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B69A7-91FA-4C72-8F87-893FA867E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B982-085A-4015-80CE-A2346F69677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867AB-E02D-43BA-A5A1-9FDAF6CBA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508AA-1A84-4BA7-BD94-37D3C8F40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223-724F-454B-B2EC-E9021496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632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1D910-D9BF-4208-8BC4-9AC7DB39F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16525-931B-4057-AE91-62FCE36EA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8ED9E-30BE-4DFA-A93D-8900BB599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B982-085A-4015-80CE-A2346F69677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A37BC-2661-4EB1-968A-49E4A46B7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590E4-67F3-4FE5-A098-2101C739D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223-724F-454B-B2EC-E9021496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6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8AFD3-672C-4BF9-8930-5F44559E2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A1EBB-625D-4773-A80B-F635E09040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28B84-2AB6-4B56-959E-7BC8E6F63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B982-085A-4015-80CE-A2346F69677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72ACB-6193-404D-ADFA-F4B819419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ABBDD-A0B1-45C4-B75B-76297414E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223-724F-454B-B2EC-E9021496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789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F6069-56B3-4FC6-8EE4-C28CEA210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AF3F5-ECA2-4F70-B814-C8115D265A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A2BF04-BCEA-41A7-8A8C-2BCFE56F84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8934DB-4059-42F1-86AC-F411773FF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B982-085A-4015-80CE-A2346F69677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83F1A4-29CE-4385-94AA-77451DE6C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A5AEF9-F781-449F-87DA-70B49DD1E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223-724F-454B-B2EC-E9021496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88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B1D2D-3BD3-47B4-AD78-6D25285A2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79DA15-C772-4608-9B44-8BCD7D713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66A88F-93C7-4913-B4EA-C0F984F828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D7CEC7-8CCF-4112-BD7F-1D6A5864BA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B797A5-B9F4-490C-8351-E0CF9F8ABA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8000BE-87D9-45D5-B739-2A268CBB7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B982-085A-4015-80CE-A2346F69677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09005F-90B1-4BFC-8192-00C58B8F7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B99AE8-AC33-4EF1-849C-0D5CE2723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223-724F-454B-B2EC-E9021496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257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11947-1E8B-4E92-A609-FBD5E84E2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CD9989-0646-446B-ADA1-1618098BA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B982-085A-4015-80CE-A2346F69677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3BEC44-CD14-440B-BB85-3BE409A74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2AAC0C-7F9F-433C-B73B-DBA81B926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223-724F-454B-B2EC-E9021496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597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961185-5E71-4386-8B21-FCC2FBB8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B982-085A-4015-80CE-A2346F69677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5FFC38-AC0B-477B-92CB-823D45A61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7B7ED-B011-43A5-81DA-79798E237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223-724F-454B-B2EC-E9021496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922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83D34-D1AA-4E81-88C0-24A9A23BA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4C757-37B5-495F-8785-D59FBAA6E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B49C64-2140-474C-850C-48C5C2C6E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CCE6C3-F24C-45ED-92C5-C694EE2BF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B982-085A-4015-80CE-A2346F69677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A1362-A5D0-4298-9A73-5427D2B2F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8DC8A6-CA99-4487-A4A3-D6A9CE2F3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223-724F-454B-B2EC-E9021496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967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B95E6-F4AF-49CD-A1C9-075A0FA7C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931823-2673-4013-AE1B-BD24C633B3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065020-2446-4902-A6D5-BEF67B64E0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36CF2-E592-42BE-92F1-6EA2A88CB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B982-085A-4015-80CE-A2346F69677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4EA11-76F2-4453-89C9-DD1609168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CF59D3-4C3F-4355-A488-E501C9D5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223-724F-454B-B2EC-E9021496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976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70C8E-4F9C-4817-898B-0F1BA7BAE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269786-5FD1-45FA-B842-25724B2A39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69C04-49C1-45EA-BE6B-5A6922DA6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B982-085A-4015-80CE-A2346F69677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3588E-C084-4B96-ACA7-1F9197215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BEBEC1-516C-4124-8DDA-CA2E1AC67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223-724F-454B-B2EC-E9021496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449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889BD9-B30F-4C26-BCA4-83A0B04727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47142A-C50D-46EC-85FF-B0CAD94AEB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B10D6-0E33-4FC7-849D-A4209857A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B982-085A-4015-80CE-A2346F69677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40316-D7EC-4FC9-8D29-690B81F91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03A542-BEAC-4AAE-A646-2B9F19D11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223-724F-454B-B2EC-E9021496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549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E89E64-E808-411E-B8B8-5139C250D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006DA0-C6FC-48D4-9DFC-223B660F47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EDA12-10E7-47B9-AA62-46B2A4A8C9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B982-085A-4015-80CE-A2346F69677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3E3C1-5F85-443D-9CDD-0C6B8108F3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CD8B9-DB2A-4218-B14B-14F5AE96BA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0C8223-724F-454B-B2EC-E9021496D07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FE1FB9-FDF9-4AC9-ABFA-D027DF39DF3D}"/>
              </a:ext>
            </a:extLst>
          </p:cNvPr>
          <p:cNvSpPr/>
          <p:nvPr userDrawn="1"/>
        </p:nvSpPr>
        <p:spPr>
          <a:xfrm>
            <a:off x="0" y="6547876"/>
            <a:ext cx="12192000" cy="319088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D72819-C542-48BA-9CFB-AEEEC59CB872}"/>
              </a:ext>
            </a:extLst>
          </p:cNvPr>
          <p:cNvSpPr txBox="1"/>
          <p:nvPr userDrawn="1"/>
        </p:nvSpPr>
        <p:spPr>
          <a:xfrm>
            <a:off x="10085293" y="6538912"/>
            <a:ext cx="21067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By: Dr. Mudassar Raza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9C1A7F-191D-49CE-8BD1-83C425E9F6D3}"/>
              </a:ext>
            </a:extLst>
          </p:cNvPr>
          <p:cNvSpPr/>
          <p:nvPr userDrawn="1"/>
        </p:nvSpPr>
        <p:spPr>
          <a:xfrm>
            <a:off x="0" y="0"/>
            <a:ext cx="12192000" cy="70788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254202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C7D151-7439-41F2-9610-544F3CB8A7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8169" y="4715043"/>
            <a:ext cx="4023359" cy="1464106"/>
          </a:xfrm>
        </p:spPr>
        <p:txBody>
          <a:bodyPr>
            <a:normAutofit fontScale="92500" lnSpcReduction="20000"/>
          </a:bodyPr>
          <a:lstStyle/>
          <a:p>
            <a:pPr algn="l" eaLnBrk="1" hangingPunct="1">
              <a:defRPr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pPr algn="l" eaLnBrk="1" hangingPunct="1">
              <a:defRPr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Mudassar Raza</a:t>
            </a:r>
          </a:p>
          <a:p>
            <a:pPr algn="l" eaLnBrk="1" hangingPunct="1">
              <a:defRPr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>
              <a:defRPr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</a:t>
            </a:r>
          </a:p>
          <a:p>
            <a:pPr algn="l" eaLnBrk="1" hangingPunct="1">
              <a:defRPr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Namal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Mianwali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>
              <a:defRPr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3A56F92-5290-4838-9496-0B9D25C039EF}"/>
              </a:ext>
            </a:extLst>
          </p:cNvPr>
          <p:cNvSpPr txBox="1">
            <a:spLocks/>
          </p:cNvSpPr>
          <p:nvPr/>
        </p:nvSpPr>
        <p:spPr bwMode="auto">
          <a:xfrm>
            <a:off x="458169" y="2716047"/>
            <a:ext cx="3932046" cy="2086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Pointers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89FC251-4B63-4D0A-B60F-5CCBA45AC9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6246" y="1316404"/>
            <a:ext cx="4023360" cy="1373747"/>
          </a:xfrm>
        </p:spPr>
        <p:txBody>
          <a:bodyPr anchor="b">
            <a:normAutofit fontScale="90000"/>
          </a:bodyPr>
          <a:lstStyle/>
          <a:p>
            <a:pPr>
              <a:defRPr/>
            </a:pP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890713" y="214313"/>
            <a:ext cx="7772400" cy="838200"/>
          </a:xfrm>
        </p:spPr>
        <p:txBody>
          <a:bodyPr/>
          <a:lstStyle/>
          <a:p>
            <a:pPr eaLnBrk="1" hangingPunct="1"/>
            <a:r>
              <a:rPr lang="en-US" altLang="en-US" sz="4000" b="1">
                <a:cs typeface="Courier New" panose="02070309020205020404" pitchFamily="49" charset="0"/>
              </a:rPr>
              <a:t>Pointer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1890713" y="1066800"/>
            <a:ext cx="8763000" cy="5257800"/>
          </a:xfrm>
        </p:spPr>
        <p:txBody>
          <a:bodyPr/>
          <a:lstStyle/>
          <a:p>
            <a:pPr eaLnBrk="1" hangingPunct="1"/>
            <a:r>
              <a:rPr lang="en-US" altLang="en-US" sz="2000"/>
              <a:t>Points to an item</a:t>
            </a:r>
          </a:p>
          <a:p>
            <a:pPr eaLnBrk="1" hangingPunct="1"/>
            <a:r>
              <a:rPr lang="en-US" altLang="en-US" sz="2000"/>
              <a:t>Holds the memory address of the item</a:t>
            </a:r>
          </a:p>
          <a:p>
            <a:pPr eaLnBrk="1" hangingPunct="1"/>
            <a:r>
              <a:rPr lang="en-US" altLang="en-US" sz="2000"/>
              <a:t>Has its own memory storage</a:t>
            </a:r>
          </a:p>
          <a:p>
            <a:pPr eaLnBrk="1" hangingPunct="1"/>
            <a:r>
              <a:rPr lang="en-US" altLang="en-US" sz="2000"/>
              <a:t>Occupies space in memory</a:t>
            </a:r>
          </a:p>
          <a:p>
            <a:pPr eaLnBrk="1" hangingPunct="1"/>
            <a:r>
              <a:rPr lang="en-US" altLang="en-US" sz="2000"/>
              <a:t>Hence can itself be accessed too</a:t>
            </a:r>
          </a:p>
          <a:p>
            <a:pPr eaLnBrk="1" hangingPunct="1"/>
            <a:r>
              <a:rPr lang="en-US" altLang="en-US" sz="2000"/>
              <a:t>Allows C/C++ to support dynamic memory allocation</a:t>
            </a:r>
          </a:p>
          <a:p>
            <a:pPr eaLnBrk="1" hangingPunct="1"/>
            <a:endParaRPr lang="en-US" altLang="en-US" sz="2000"/>
          </a:p>
          <a:p>
            <a:pPr eaLnBrk="1" hangingPunct="1"/>
            <a:r>
              <a:rPr lang="en-US" altLang="en-US" sz="2000">
                <a:cs typeface="Times New Roman" panose="02020603050405020304" pitchFamily="18" charset="0"/>
              </a:rPr>
              <a:t>If </a:t>
            </a:r>
            <a:r>
              <a:rPr lang="en-US" altLang="en-US" sz="2000" i="1">
                <a:cs typeface="Times New Roman" panose="02020603050405020304" pitchFamily="18" charset="0"/>
              </a:rPr>
              <a:t>x</a:t>
            </a:r>
            <a:r>
              <a:rPr lang="en-US" altLang="en-US" sz="2000">
                <a:cs typeface="Times New Roman" panose="02020603050405020304" pitchFamily="18" charset="0"/>
              </a:rPr>
              <a:t> contains the address of </a:t>
            </a:r>
            <a:r>
              <a:rPr lang="en-US" altLang="en-US" sz="2000" i="1">
                <a:cs typeface="Times New Roman" panose="02020603050405020304" pitchFamily="18" charset="0"/>
              </a:rPr>
              <a:t>y</a:t>
            </a:r>
            <a:r>
              <a:rPr lang="en-US" altLang="en-US" sz="2000">
                <a:cs typeface="Times New Roman" panose="02020603050405020304" pitchFamily="18" charset="0"/>
              </a:rPr>
              <a:t>, </a:t>
            </a:r>
            <a:r>
              <a:rPr lang="en-US" altLang="en-US" sz="2000" i="1">
                <a:cs typeface="Times New Roman" panose="02020603050405020304" pitchFamily="18" charset="0"/>
              </a:rPr>
              <a:t>x</a:t>
            </a:r>
            <a:r>
              <a:rPr lang="en-US" altLang="en-US" sz="2000">
                <a:cs typeface="Times New Roman" panose="02020603050405020304" pitchFamily="18" charset="0"/>
              </a:rPr>
              <a:t> is said to “point to” </a:t>
            </a:r>
            <a:r>
              <a:rPr lang="en-US" altLang="en-US" sz="2000" i="1">
                <a:cs typeface="Times New Roman" panose="02020603050405020304" pitchFamily="18" charset="0"/>
              </a:rPr>
              <a:t>y</a:t>
            </a:r>
          </a:p>
          <a:p>
            <a:pPr eaLnBrk="1" hangingPunct="1"/>
            <a:r>
              <a:rPr lang="en-US" altLang="en-US" sz="2000">
                <a:cs typeface="Times New Roman" panose="02020603050405020304" pitchFamily="18" charset="0"/>
              </a:rPr>
              <a:t>Pointer variables are declared as</a:t>
            </a:r>
          </a:p>
          <a:p>
            <a:pPr lvl="1" eaLnBrk="1" hangingPunct="1">
              <a:buFontTx/>
              <a:buNone/>
            </a:pPr>
            <a:r>
              <a:rPr lang="en-US" altLang="en-US" sz="2000">
                <a:cs typeface="Times New Roman" panose="02020603050405020304" pitchFamily="18" charset="0"/>
              </a:rPr>
              <a:t>	</a:t>
            </a:r>
            <a:r>
              <a:rPr lang="en-US" altLang="en-US" sz="2000" b="1" i="1">
                <a:cs typeface="Times New Roman" panose="02020603050405020304" pitchFamily="18" charset="0"/>
              </a:rPr>
              <a:t>datatype *var-name;</a:t>
            </a:r>
          </a:p>
          <a:p>
            <a:pPr eaLnBrk="1" hangingPunct="1">
              <a:buFontTx/>
              <a:buNone/>
            </a:pPr>
            <a:r>
              <a:rPr lang="en-US" altLang="en-US" sz="2000">
                <a:cs typeface="Times New Roman" panose="02020603050405020304" pitchFamily="18" charset="0"/>
              </a:rPr>
              <a:t>	e.g.	int *p;		pointer p contains the memory address of an int variable</a:t>
            </a:r>
          </a:p>
          <a:p>
            <a:pPr eaLnBrk="1" hangingPunct="1">
              <a:buFontTx/>
              <a:buNone/>
            </a:pPr>
            <a:r>
              <a:rPr lang="en-US" altLang="en-US" sz="2000">
                <a:cs typeface="Times New Roman" panose="02020603050405020304" pitchFamily="18" charset="0"/>
              </a:rPr>
              <a:t>		float *fl;		points to a float variable</a:t>
            </a:r>
            <a:endParaRPr lang="en-US" altLang="en-US" sz="2000"/>
          </a:p>
        </p:txBody>
      </p:sp>
    </p:spTree>
    <p:extLst>
      <p:ext uri="{BB962C8B-B14F-4D97-AF65-F5344CB8AC3E}">
        <p14:creationId xmlns:p14="http://schemas.microsoft.com/office/powerpoint/2010/main" val="3090619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Let</a:t>
            </a:r>
            <a:endParaRPr lang="en-US" altLang="en-US" dirty="0" smtClean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characters </a:t>
            </a:r>
            <a:r>
              <a:rPr lang="en-US" altLang="en-US" dirty="0" smtClean="0">
                <a:sym typeface="Wingdings" panose="05000000000000000000" pitchFamily="2" charset="2"/>
              </a:rPr>
              <a:t></a:t>
            </a:r>
            <a:r>
              <a:rPr lang="en-US" altLang="en-US" dirty="0" smtClean="0"/>
              <a:t> </a:t>
            </a:r>
            <a:r>
              <a:rPr lang="en-US" altLang="en-US" dirty="0" smtClean="0"/>
              <a:t>one byte in length</a:t>
            </a:r>
          </a:p>
          <a:p>
            <a:r>
              <a:rPr lang="en-US" altLang="en-US" dirty="0" smtClean="0"/>
              <a:t>integers </a:t>
            </a:r>
            <a:r>
              <a:rPr lang="en-US" altLang="en-US" dirty="0">
                <a:sym typeface="Wingdings" panose="05000000000000000000" pitchFamily="2" charset="2"/>
              </a:rPr>
              <a:t></a:t>
            </a:r>
            <a:r>
              <a:rPr lang="en-US" altLang="en-US" dirty="0" smtClean="0"/>
              <a:t> </a:t>
            </a:r>
            <a:r>
              <a:rPr lang="en-US" altLang="en-US" dirty="0" smtClean="0"/>
              <a:t>four bytes long</a:t>
            </a:r>
          </a:p>
          <a:p>
            <a:r>
              <a:rPr lang="en-US" altLang="en-US" dirty="0" smtClean="0"/>
              <a:t>floats </a:t>
            </a:r>
            <a:r>
              <a:rPr lang="en-US" altLang="en-US" dirty="0">
                <a:sym typeface="Wingdings" panose="05000000000000000000" pitchFamily="2" charset="2"/>
              </a:rPr>
              <a:t></a:t>
            </a:r>
            <a:r>
              <a:rPr lang="en-US" altLang="en-US" dirty="0" smtClean="0"/>
              <a:t> </a:t>
            </a:r>
            <a:r>
              <a:rPr lang="en-US" altLang="en-US" dirty="0" smtClean="0"/>
              <a:t>four bytes long</a:t>
            </a:r>
          </a:p>
          <a:p>
            <a:r>
              <a:rPr lang="en-US" altLang="en-US" dirty="0" smtClean="0"/>
              <a:t>doubles </a:t>
            </a:r>
            <a:r>
              <a:rPr lang="en-US" altLang="en-US" dirty="0">
                <a:sym typeface="Wingdings" panose="05000000000000000000" pitchFamily="2" charset="2"/>
              </a:rPr>
              <a:t></a:t>
            </a:r>
            <a:r>
              <a:rPr lang="en-US" altLang="en-US" dirty="0" smtClean="0"/>
              <a:t> </a:t>
            </a:r>
            <a:r>
              <a:rPr lang="en-US" altLang="en-US" dirty="0" smtClean="0"/>
              <a:t>eight bytes long</a:t>
            </a:r>
          </a:p>
          <a:p>
            <a:pPr eaLnBrk="1" hangingPunct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07060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1828800" y="1371600"/>
            <a:ext cx="86106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	&amp; 		address of</a:t>
            </a:r>
          </a:p>
          <a:p>
            <a:pPr eaLnBrk="1" hangingPunct="1">
              <a:spcBef>
                <a:spcPct val="20000"/>
              </a:spcBef>
            </a:pPr>
            <a:endParaRPr lang="en-US" altLang="en-US" sz="2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	* 		value at address</a:t>
            </a:r>
          </a:p>
          <a:p>
            <a:pPr eaLnBrk="1" hangingPunct="1">
              <a:spcBef>
                <a:spcPct val="20000"/>
              </a:spcBef>
            </a:pPr>
            <a:endParaRPr lang="en-US" altLang="en-US" sz="2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   &amp;a		address of variable a</a:t>
            </a:r>
          </a:p>
          <a:p>
            <a:pPr eaLnBrk="1" hangingPunct="1">
              <a:spcBef>
                <a:spcPct val="20000"/>
              </a:spcBef>
            </a:pPr>
            <a:endParaRPr lang="en-US" altLang="en-US" sz="2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	*p		contents of location pointed to by variable p</a:t>
            </a:r>
          </a:p>
          <a:p>
            <a:pPr eaLnBrk="1" hangingPunct="1">
              <a:spcBef>
                <a:spcPct val="20000"/>
              </a:spcBef>
            </a:pPr>
            <a:endParaRPr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1828800" y="737616"/>
            <a:ext cx="7772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en-US" sz="3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Pointer Operators</a:t>
            </a:r>
            <a:endParaRPr lang="en-US" altLang="en-US" sz="44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0299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1828800" y="838200"/>
            <a:ext cx="85344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3200">
                <a:solidFill>
                  <a:srgbClr val="FF3300"/>
                </a:solidFill>
                <a:latin typeface="Times New Roman" panose="02020603050405020304" pitchFamily="18" charset="0"/>
              </a:rPr>
              <a:t>&amp; (address operator)</a:t>
            </a:r>
          </a:p>
          <a:p>
            <a:pPr lvl="1" eaLnBrk="1" hangingPunct="1">
              <a:spcBef>
                <a:spcPct val="20000"/>
              </a:spcBef>
              <a:buFontTx/>
              <a:buChar char="–"/>
            </a:pPr>
            <a:r>
              <a:rPr lang="en-US" altLang="en-US" sz="2400">
                <a:solidFill>
                  <a:schemeClr val="accent2"/>
                </a:solidFill>
                <a:latin typeface="Times New Roman" panose="02020603050405020304" pitchFamily="18" charset="0"/>
              </a:rPr>
              <a:t>a unary operator that returns the memory address of its operand.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800">
                <a:solidFill>
                  <a:schemeClr val="accent2"/>
                </a:solidFill>
                <a:latin typeface="Times New Roman" panose="02020603050405020304" pitchFamily="18" charset="0"/>
              </a:rPr>
              <a:t>			int balance = 350;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800">
                <a:solidFill>
                  <a:schemeClr val="accent2"/>
                </a:solidFill>
                <a:latin typeface="Times New Roman" panose="02020603050405020304" pitchFamily="18" charset="0"/>
              </a:rPr>
              <a:t>			int *balptr;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800">
                <a:solidFill>
                  <a:schemeClr val="accent2"/>
                </a:solidFill>
                <a:latin typeface="Times New Roman" panose="02020603050405020304" pitchFamily="18" charset="0"/>
              </a:rPr>
              <a:t>			balptr = &amp;balance;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This address is the location of the variable in memory, it has nothing to do with the value of balance.</a:t>
            </a:r>
            <a:endParaRPr lang="en-US" altLang="en-US" sz="28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2209800" y="342900"/>
            <a:ext cx="7772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en-US" sz="3200" b="1">
                <a:solidFill>
                  <a:schemeClr val="accent2"/>
                </a:solidFill>
                <a:latin typeface="Times New Roman" panose="02020603050405020304" pitchFamily="18" charset="0"/>
              </a:rPr>
              <a:t>Pointer Operators</a:t>
            </a:r>
            <a:endParaRPr lang="en-US" altLang="en-US" sz="4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730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1828800" y="609600"/>
            <a:ext cx="83058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3200">
                <a:solidFill>
                  <a:srgbClr val="FF0000"/>
                </a:solidFill>
                <a:latin typeface="Times New Roman" panose="02020603050405020304" pitchFamily="18" charset="0"/>
              </a:rPr>
              <a:t>* (indirection operator)</a:t>
            </a:r>
          </a:p>
          <a:p>
            <a:pPr lvl="1" eaLnBrk="1" hangingPunct="1">
              <a:spcBef>
                <a:spcPct val="20000"/>
              </a:spcBef>
              <a:buFontTx/>
              <a:buChar char="–"/>
            </a:pPr>
            <a:r>
              <a:rPr lang="en-US" altLang="en-US" sz="2800">
                <a:latin typeface="Times New Roman" panose="02020603050405020304" pitchFamily="18" charset="0"/>
              </a:rPr>
              <a:t>Is the complement of &amp;.</a:t>
            </a:r>
          </a:p>
          <a:p>
            <a:pPr lvl="1" eaLnBrk="1" hangingPunct="1">
              <a:spcBef>
                <a:spcPct val="20000"/>
              </a:spcBef>
              <a:buFontTx/>
              <a:buChar char="–"/>
            </a:pPr>
            <a:r>
              <a:rPr lang="en-US" altLang="en-US" sz="2800">
                <a:latin typeface="Times New Roman" panose="02020603050405020304" pitchFamily="18" charset="0"/>
              </a:rPr>
              <a:t>It is a unary operator that returns the </a:t>
            </a:r>
            <a:r>
              <a:rPr lang="en-US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value of variable located at address specified by its operand.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3200">
                <a:solidFill>
                  <a:schemeClr val="accent2"/>
                </a:solidFill>
                <a:latin typeface="Times New Roman" panose="02020603050405020304" pitchFamily="18" charset="0"/>
              </a:rPr>
              <a:t>			int balance = 350;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3200">
                <a:solidFill>
                  <a:schemeClr val="accent2"/>
                </a:solidFill>
                <a:latin typeface="Times New Roman" panose="02020603050405020304" pitchFamily="18" charset="0"/>
              </a:rPr>
              <a:t>			int *balptr;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3200">
                <a:solidFill>
                  <a:schemeClr val="accent2"/>
                </a:solidFill>
                <a:latin typeface="Times New Roman" panose="02020603050405020304" pitchFamily="18" charset="0"/>
              </a:rPr>
              <a:t>			balptr = &amp;balance;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3200">
                <a:latin typeface="Times New Roman" panose="02020603050405020304" pitchFamily="18" charset="0"/>
              </a:rPr>
              <a:t>			int value;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3200">
                <a:latin typeface="Times New Roman" panose="02020603050405020304" pitchFamily="18" charset="0"/>
              </a:rPr>
              <a:t>			value = *balptr;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3200">
                <a:latin typeface="Times New Roman" panose="02020603050405020304" pitchFamily="18" charset="0"/>
              </a:rPr>
              <a:t>			// what does value contain?</a:t>
            </a:r>
          </a:p>
        </p:txBody>
      </p:sp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2209800" y="254000"/>
            <a:ext cx="7772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en-US" sz="3200" b="1">
                <a:solidFill>
                  <a:schemeClr val="accent2"/>
                </a:solidFill>
                <a:latin typeface="Times New Roman" panose="02020603050405020304" pitchFamily="18" charset="0"/>
              </a:rPr>
              <a:t>Pointer Operators</a:t>
            </a:r>
            <a:endParaRPr lang="en-US" altLang="en-US" sz="4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2267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7772400" cy="792163"/>
          </a:xfrm>
        </p:spPr>
        <p:txBody>
          <a:bodyPr/>
          <a:lstStyle/>
          <a:p>
            <a:pPr eaLnBrk="1" hangingPunct="1"/>
            <a:r>
              <a:rPr lang="en-US" altLang="en-US" sz="3600" dirty="0">
                <a:cs typeface="Times New Roman" panose="02020603050405020304" pitchFamily="18" charset="0"/>
              </a:rPr>
              <a:t>Pointers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723900"/>
            <a:ext cx="8229600" cy="5410200"/>
          </a:xfrm>
        </p:spPr>
        <p:txBody>
          <a:bodyPr/>
          <a:lstStyle/>
          <a:p>
            <a:pPr eaLnBrk="1" hangingPunct="1"/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a=1, b=2, *p;</a:t>
            </a:r>
          </a:p>
          <a:p>
            <a:pPr eaLnBrk="1" hangingPunct="1"/>
            <a:r>
              <a:rPr lang="en-US" altLang="en-US" sz="2400" dirty="0">
                <a:cs typeface="Times New Roman" panose="02020603050405020304" pitchFamily="18" charset="0"/>
              </a:rPr>
              <a:t>Picture in memory at this point:</a:t>
            </a:r>
          </a:p>
          <a:p>
            <a:pPr eaLnBrk="1" hangingPunct="1"/>
            <a:endParaRPr lang="en-US" altLang="en-US" sz="2400" dirty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600" dirty="0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p=&amp;a; 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//p is assigned the address of a</a:t>
            </a:r>
          </a:p>
          <a:p>
            <a:pPr eaLnBrk="1" hangingPunct="1"/>
            <a:endParaRPr lang="en-US" alt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endParaRPr lang="en-US" alt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endParaRPr lang="en-US" alt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b=*p; 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//b is assigned the value pointed to by p</a:t>
            </a:r>
          </a:p>
          <a:p>
            <a:pPr eaLnBrk="1" hangingPunct="1">
              <a:buFontTx/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	As 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altLang="en-US" sz="2400" dirty="0">
                <a:cs typeface="Times New Roman" panose="02020603050405020304" pitchFamily="18" charset="0"/>
              </a:rPr>
              <a:t> points to 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2400" dirty="0">
                <a:cs typeface="Times New Roman" panose="02020603050405020304" pitchFamily="18" charset="0"/>
              </a:rPr>
              <a:t>, the statement 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b=*p</a:t>
            </a:r>
            <a:r>
              <a:rPr lang="en-US" altLang="en-US" sz="2400" dirty="0">
                <a:cs typeface="Times New Roman" panose="02020603050405020304" pitchFamily="18" charset="0"/>
              </a:rPr>
              <a:t> is equivalent to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b=a</a:t>
            </a:r>
            <a:endParaRPr lang="en-US" altLang="en-US" dirty="0" smtClean="0"/>
          </a:p>
        </p:txBody>
      </p:sp>
      <p:grpSp>
        <p:nvGrpSpPr>
          <p:cNvPr id="20484" name="Group 4"/>
          <p:cNvGrpSpPr>
            <a:grpSpLocks/>
          </p:cNvGrpSpPr>
          <p:nvPr/>
        </p:nvGrpSpPr>
        <p:grpSpPr bwMode="auto">
          <a:xfrm>
            <a:off x="3429000" y="2963864"/>
            <a:ext cx="4724400" cy="777875"/>
            <a:chOff x="1152" y="2496"/>
            <a:chExt cx="2976" cy="490"/>
          </a:xfrm>
        </p:grpSpPr>
        <p:sp>
          <p:nvSpPr>
            <p:cNvPr id="20520" name="Text Box 5"/>
            <p:cNvSpPr txBox="1">
              <a:spLocks noChangeArrowheads="1"/>
            </p:cNvSpPr>
            <p:nvPr/>
          </p:nvSpPr>
          <p:spPr bwMode="auto">
            <a:xfrm>
              <a:off x="1152" y="2496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0521" name="Text Box 6"/>
            <p:cNvSpPr txBox="1">
              <a:spLocks noChangeArrowheads="1"/>
            </p:cNvSpPr>
            <p:nvPr/>
          </p:nvSpPr>
          <p:spPr bwMode="auto">
            <a:xfrm>
              <a:off x="2304" y="2496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0522" name="Text Box 7"/>
            <p:cNvSpPr txBox="1">
              <a:spLocks noChangeArrowheads="1"/>
            </p:cNvSpPr>
            <p:nvPr/>
          </p:nvSpPr>
          <p:spPr bwMode="auto">
            <a:xfrm>
              <a:off x="3456" y="2496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20523" name="Rectangle 8"/>
            <p:cNvSpPr>
              <a:spLocks noChangeArrowheads="1"/>
            </p:cNvSpPr>
            <p:nvPr/>
          </p:nvSpPr>
          <p:spPr bwMode="auto">
            <a:xfrm>
              <a:off x="1152" y="2736"/>
              <a:ext cx="672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0524" name="Rectangle 9"/>
            <p:cNvSpPr>
              <a:spLocks noChangeArrowheads="1"/>
            </p:cNvSpPr>
            <p:nvPr/>
          </p:nvSpPr>
          <p:spPr bwMode="auto">
            <a:xfrm>
              <a:off x="3456" y="2736"/>
              <a:ext cx="672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0525" name="Rectangle 10"/>
            <p:cNvSpPr>
              <a:spLocks noChangeArrowheads="1"/>
            </p:cNvSpPr>
            <p:nvPr/>
          </p:nvSpPr>
          <p:spPr bwMode="auto">
            <a:xfrm>
              <a:off x="2304" y="2736"/>
              <a:ext cx="672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0526" name="Text Box 11"/>
            <p:cNvSpPr txBox="1">
              <a:spLocks noChangeArrowheads="1"/>
            </p:cNvSpPr>
            <p:nvPr/>
          </p:nvSpPr>
          <p:spPr bwMode="auto">
            <a:xfrm>
              <a:off x="1344" y="2736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0527" name="Text Box 12"/>
            <p:cNvSpPr txBox="1">
              <a:spLocks noChangeArrowheads="1"/>
            </p:cNvSpPr>
            <p:nvPr/>
          </p:nvSpPr>
          <p:spPr bwMode="auto">
            <a:xfrm>
              <a:off x="2544" y="2736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0528" name="Oval 13"/>
            <p:cNvSpPr>
              <a:spLocks noChangeArrowheads="1"/>
            </p:cNvSpPr>
            <p:nvPr/>
          </p:nvSpPr>
          <p:spPr bwMode="auto">
            <a:xfrm>
              <a:off x="3744" y="2832"/>
              <a:ext cx="48" cy="48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0485" name="Group 14"/>
          <p:cNvGrpSpPr>
            <a:grpSpLocks/>
          </p:cNvGrpSpPr>
          <p:nvPr/>
        </p:nvGrpSpPr>
        <p:grpSpPr bwMode="auto">
          <a:xfrm>
            <a:off x="3048000" y="3559175"/>
            <a:ext cx="5562600" cy="533400"/>
            <a:chOff x="1008" y="2381"/>
            <a:chExt cx="3504" cy="336"/>
          </a:xfrm>
        </p:grpSpPr>
        <p:sp>
          <p:nvSpPr>
            <p:cNvPr id="20515" name="Line 15"/>
            <p:cNvSpPr>
              <a:spLocks noChangeShapeType="1"/>
            </p:cNvSpPr>
            <p:nvPr/>
          </p:nvSpPr>
          <p:spPr bwMode="auto">
            <a:xfrm>
              <a:off x="3888" y="2381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6" name="Line 16"/>
            <p:cNvSpPr>
              <a:spLocks noChangeShapeType="1"/>
            </p:cNvSpPr>
            <p:nvPr/>
          </p:nvSpPr>
          <p:spPr bwMode="auto">
            <a:xfrm>
              <a:off x="4512" y="2381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7" name="Line 17"/>
            <p:cNvSpPr>
              <a:spLocks noChangeShapeType="1"/>
            </p:cNvSpPr>
            <p:nvPr/>
          </p:nvSpPr>
          <p:spPr bwMode="auto">
            <a:xfrm flipH="1">
              <a:off x="1008" y="2717"/>
              <a:ext cx="35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8" name="Line 18"/>
            <p:cNvSpPr>
              <a:spLocks noChangeShapeType="1"/>
            </p:cNvSpPr>
            <p:nvPr/>
          </p:nvSpPr>
          <p:spPr bwMode="auto">
            <a:xfrm flipV="1">
              <a:off x="1008" y="2429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9" name="Line 19"/>
            <p:cNvSpPr>
              <a:spLocks noChangeShapeType="1"/>
            </p:cNvSpPr>
            <p:nvPr/>
          </p:nvSpPr>
          <p:spPr bwMode="auto">
            <a:xfrm>
              <a:off x="1008" y="2429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86" name="Group 20"/>
          <p:cNvGrpSpPr>
            <a:grpSpLocks/>
          </p:cNvGrpSpPr>
          <p:nvPr/>
        </p:nvGrpSpPr>
        <p:grpSpPr bwMode="auto">
          <a:xfrm>
            <a:off x="3581400" y="1608139"/>
            <a:ext cx="5486400" cy="777875"/>
            <a:chOff x="1152" y="1008"/>
            <a:chExt cx="3456" cy="490"/>
          </a:xfrm>
        </p:grpSpPr>
        <p:sp>
          <p:nvSpPr>
            <p:cNvPr id="20504" name="Text Box 21"/>
            <p:cNvSpPr txBox="1">
              <a:spLocks noChangeArrowheads="1"/>
            </p:cNvSpPr>
            <p:nvPr/>
          </p:nvSpPr>
          <p:spPr bwMode="auto">
            <a:xfrm>
              <a:off x="1152" y="1008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0505" name="Text Box 22"/>
            <p:cNvSpPr txBox="1">
              <a:spLocks noChangeArrowheads="1"/>
            </p:cNvSpPr>
            <p:nvPr/>
          </p:nvSpPr>
          <p:spPr bwMode="auto">
            <a:xfrm>
              <a:off x="2304" y="1008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0506" name="Text Box 23"/>
            <p:cNvSpPr txBox="1">
              <a:spLocks noChangeArrowheads="1"/>
            </p:cNvSpPr>
            <p:nvPr/>
          </p:nvSpPr>
          <p:spPr bwMode="auto">
            <a:xfrm>
              <a:off x="3456" y="1008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20507" name="Rectangle 24"/>
            <p:cNvSpPr>
              <a:spLocks noChangeArrowheads="1"/>
            </p:cNvSpPr>
            <p:nvPr/>
          </p:nvSpPr>
          <p:spPr bwMode="auto">
            <a:xfrm>
              <a:off x="1152" y="1248"/>
              <a:ext cx="672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0508" name="Rectangle 25"/>
            <p:cNvSpPr>
              <a:spLocks noChangeArrowheads="1"/>
            </p:cNvSpPr>
            <p:nvPr/>
          </p:nvSpPr>
          <p:spPr bwMode="auto">
            <a:xfrm>
              <a:off x="3456" y="1248"/>
              <a:ext cx="672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0509" name="Rectangle 26"/>
            <p:cNvSpPr>
              <a:spLocks noChangeArrowheads="1"/>
            </p:cNvSpPr>
            <p:nvPr/>
          </p:nvSpPr>
          <p:spPr bwMode="auto">
            <a:xfrm>
              <a:off x="2304" y="1248"/>
              <a:ext cx="672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0510" name="Text Box 27"/>
            <p:cNvSpPr txBox="1">
              <a:spLocks noChangeArrowheads="1"/>
            </p:cNvSpPr>
            <p:nvPr/>
          </p:nvSpPr>
          <p:spPr bwMode="auto">
            <a:xfrm>
              <a:off x="1344" y="1248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0511" name="Text Box 28"/>
            <p:cNvSpPr txBox="1">
              <a:spLocks noChangeArrowheads="1"/>
            </p:cNvSpPr>
            <p:nvPr/>
          </p:nvSpPr>
          <p:spPr bwMode="auto">
            <a:xfrm>
              <a:off x="2544" y="1248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0512" name="Oval 29"/>
            <p:cNvSpPr>
              <a:spLocks noChangeArrowheads="1"/>
            </p:cNvSpPr>
            <p:nvPr/>
          </p:nvSpPr>
          <p:spPr bwMode="auto">
            <a:xfrm>
              <a:off x="3744" y="1344"/>
              <a:ext cx="48" cy="48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0513" name="Line 30"/>
            <p:cNvSpPr>
              <a:spLocks noChangeShapeType="1"/>
            </p:cNvSpPr>
            <p:nvPr/>
          </p:nvSpPr>
          <p:spPr bwMode="auto">
            <a:xfrm>
              <a:off x="3792" y="1344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4" name="Text Box 31"/>
            <p:cNvSpPr txBox="1">
              <a:spLocks noChangeArrowheads="1"/>
            </p:cNvSpPr>
            <p:nvPr/>
          </p:nvSpPr>
          <p:spPr bwMode="auto">
            <a:xfrm>
              <a:off x="4416" y="1200"/>
              <a:ext cx="19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?</a:t>
              </a:r>
            </a:p>
          </p:txBody>
        </p:sp>
      </p:grpSp>
      <p:grpSp>
        <p:nvGrpSpPr>
          <p:cNvPr id="20487" name="Group 32"/>
          <p:cNvGrpSpPr>
            <a:grpSpLocks/>
          </p:cNvGrpSpPr>
          <p:nvPr/>
        </p:nvGrpSpPr>
        <p:grpSpPr bwMode="auto">
          <a:xfrm>
            <a:off x="3048000" y="4960938"/>
            <a:ext cx="5562600" cy="1066800"/>
            <a:chOff x="1008" y="3312"/>
            <a:chExt cx="3504" cy="672"/>
          </a:xfrm>
        </p:grpSpPr>
        <p:sp>
          <p:nvSpPr>
            <p:cNvPr id="20488" name="Text Box 33"/>
            <p:cNvSpPr txBox="1">
              <a:spLocks noChangeArrowheads="1"/>
            </p:cNvSpPr>
            <p:nvPr/>
          </p:nvSpPr>
          <p:spPr bwMode="auto">
            <a:xfrm>
              <a:off x="1248" y="3312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0489" name="Text Box 34"/>
            <p:cNvSpPr txBox="1">
              <a:spLocks noChangeArrowheads="1"/>
            </p:cNvSpPr>
            <p:nvPr/>
          </p:nvSpPr>
          <p:spPr bwMode="auto">
            <a:xfrm>
              <a:off x="2400" y="3312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0490" name="Text Box 35"/>
            <p:cNvSpPr txBox="1">
              <a:spLocks noChangeArrowheads="1"/>
            </p:cNvSpPr>
            <p:nvPr/>
          </p:nvSpPr>
          <p:spPr bwMode="auto">
            <a:xfrm>
              <a:off x="3552" y="3312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</a:p>
          </p:txBody>
        </p:sp>
        <p:grpSp>
          <p:nvGrpSpPr>
            <p:cNvPr id="20491" name="Group 36"/>
            <p:cNvGrpSpPr>
              <a:grpSpLocks/>
            </p:cNvGrpSpPr>
            <p:nvPr/>
          </p:nvGrpSpPr>
          <p:grpSpPr bwMode="auto">
            <a:xfrm>
              <a:off x="1008" y="3552"/>
              <a:ext cx="3504" cy="432"/>
              <a:chOff x="1008" y="3552"/>
              <a:chExt cx="3504" cy="432"/>
            </a:xfrm>
          </p:grpSpPr>
          <p:sp>
            <p:nvSpPr>
              <p:cNvPr id="20492" name="Rectangle 37"/>
              <p:cNvSpPr>
                <a:spLocks noChangeArrowheads="1"/>
              </p:cNvSpPr>
              <p:nvPr/>
            </p:nvSpPr>
            <p:spPr bwMode="auto">
              <a:xfrm>
                <a:off x="1248" y="3552"/>
                <a:ext cx="672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493" name="Rectangle 38"/>
              <p:cNvSpPr>
                <a:spLocks noChangeArrowheads="1"/>
              </p:cNvSpPr>
              <p:nvPr/>
            </p:nvSpPr>
            <p:spPr bwMode="auto">
              <a:xfrm>
                <a:off x="3552" y="3552"/>
                <a:ext cx="672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494" name="Rectangle 39"/>
              <p:cNvSpPr>
                <a:spLocks noChangeArrowheads="1"/>
              </p:cNvSpPr>
              <p:nvPr/>
            </p:nvSpPr>
            <p:spPr bwMode="auto">
              <a:xfrm>
                <a:off x="2400" y="3552"/>
                <a:ext cx="672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495" name="Text Box 40"/>
              <p:cNvSpPr txBox="1">
                <a:spLocks noChangeArrowheads="1"/>
              </p:cNvSpPr>
              <p:nvPr/>
            </p:nvSpPr>
            <p:spPr bwMode="auto">
              <a:xfrm>
                <a:off x="1440" y="3552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20496" name="Text Box 41"/>
              <p:cNvSpPr txBox="1">
                <a:spLocks noChangeArrowheads="1"/>
              </p:cNvSpPr>
              <p:nvPr/>
            </p:nvSpPr>
            <p:spPr bwMode="auto">
              <a:xfrm>
                <a:off x="2640" y="3552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20497" name="Oval 42"/>
              <p:cNvSpPr>
                <a:spLocks noChangeArrowheads="1"/>
              </p:cNvSpPr>
              <p:nvPr/>
            </p:nvSpPr>
            <p:spPr bwMode="auto">
              <a:xfrm>
                <a:off x="3840" y="3648"/>
                <a:ext cx="48" cy="48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0498" name="Group 43"/>
              <p:cNvGrpSpPr>
                <a:grpSpLocks/>
              </p:cNvGrpSpPr>
              <p:nvPr/>
            </p:nvGrpSpPr>
            <p:grpSpPr bwMode="auto">
              <a:xfrm>
                <a:off x="1008" y="3648"/>
                <a:ext cx="3504" cy="336"/>
                <a:chOff x="1008" y="2381"/>
                <a:chExt cx="3504" cy="336"/>
              </a:xfrm>
            </p:grpSpPr>
            <p:sp>
              <p:nvSpPr>
                <p:cNvPr id="20499" name="Line 44"/>
                <p:cNvSpPr>
                  <a:spLocks noChangeShapeType="1"/>
                </p:cNvSpPr>
                <p:nvPr/>
              </p:nvSpPr>
              <p:spPr bwMode="auto">
                <a:xfrm>
                  <a:off x="3888" y="2381"/>
                  <a:ext cx="62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500" name="Line 45"/>
                <p:cNvSpPr>
                  <a:spLocks noChangeShapeType="1"/>
                </p:cNvSpPr>
                <p:nvPr/>
              </p:nvSpPr>
              <p:spPr bwMode="auto">
                <a:xfrm>
                  <a:off x="4512" y="2381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501" name="Line 46"/>
                <p:cNvSpPr>
                  <a:spLocks noChangeShapeType="1"/>
                </p:cNvSpPr>
                <p:nvPr/>
              </p:nvSpPr>
              <p:spPr bwMode="auto">
                <a:xfrm flipH="1">
                  <a:off x="1008" y="2717"/>
                  <a:ext cx="350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502" name="Line 47"/>
                <p:cNvSpPr>
                  <a:spLocks noChangeShapeType="1"/>
                </p:cNvSpPr>
                <p:nvPr/>
              </p:nvSpPr>
              <p:spPr bwMode="auto">
                <a:xfrm flipV="1">
                  <a:off x="1008" y="2429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503" name="Line 48"/>
                <p:cNvSpPr>
                  <a:spLocks noChangeShapeType="1"/>
                </p:cNvSpPr>
                <p:nvPr/>
              </p:nvSpPr>
              <p:spPr bwMode="auto">
                <a:xfrm>
                  <a:off x="1008" y="2429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906298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2209800" y="685800"/>
            <a:ext cx="8305800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2000" b="1">
                <a:latin typeface="Times New Roman" panose="02020603050405020304" pitchFamily="18" charset="0"/>
              </a:rPr>
              <a:t>int main() 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000" b="1">
                <a:latin typeface="Times New Roman" panose="02020603050405020304" pitchFamily="18" charset="0"/>
              </a:rPr>
              <a:t>{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en-US" sz="2000" b="1">
                <a:latin typeface="Times New Roman" panose="02020603050405020304" pitchFamily="18" charset="0"/>
              </a:rPr>
              <a:t>  int balance;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en-US" sz="2000" b="1">
                <a:latin typeface="Times New Roman" panose="02020603050405020304" pitchFamily="18" charset="0"/>
              </a:rPr>
              <a:t>  int *balptr;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en-US" sz="2000" b="1">
                <a:latin typeface="Times New Roman" panose="02020603050405020304" pitchFamily="18" charset="0"/>
              </a:rPr>
              <a:t>  int value;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en-US" sz="2000" b="1">
                <a:latin typeface="Times New Roman" panose="02020603050405020304" pitchFamily="18" charset="0"/>
              </a:rPr>
              <a:t>  balance	= 3200;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en-US" sz="2000" b="1">
                <a:latin typeface="Times New Roman" panose="02020603050405020304" pitchFamily="18" charset="0"/>
              </a:rPr>
              <a:t>  balptr	= &amp;balance;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en-US" sz="2000" b="1">
                <a:latin typeface="Times New Roman" panose="02020603050405020304" pitchFamily="18" charset="0"/>
              </a:rPr>
              <a:t>  value	= *balptr;</a:t>
            </a:r>
          </a:p>
          <a:p>
            <a:pPr lvl="1" eaLnBrk="1" hangingPunct="1">
              <a:spcBef>
                <a:spcPct val="20000"/>
              </a:spcBef>
            </a:pPr>
            <a:endParaRPr lang="en-US" altLang="en-US" sz="2000" b="1">
              <a:latin typeface="Times New Roman" panose="02020603050405020304" pitchFamily="18" charset="0"/>
            </a:endParaRPr>
          </a:p>
          <a:p>
            <a:pPr lvl="1" eaLnBrk="1" hangingPunct="1">
              <a:spcBef>
                <a:spcPct val="20000"/>
              </a:spcBef>
            </a:pPr>
            <a:r>
              <a:rPr lang="en-US" altLang="en-US" sz="2000" b="1">
                <a:latin typeface="Times New Roman" panose="02020603050405020304" pitchFamily="18" charset="0"/>
              </a:rPr>
              <a:t>  cout &lt;&lt; "balance is: " &lt;&lt; value &lt;&lt; '\n';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en-US" sz="2000" b="1">
                <a:latin typeface="Times New Roman" panose="02020603050405020304" pitchFamily="18" charset="0"/>
              </a:rPr>
              <a:t>  cout &lt;&lt; "Memory address where balance is stored is: ”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en-US" sz="2000" b="1">
                <a:latin typeface="Times New Roman" panose="02020603050405020304" pitchFamily="18" charset="0"/>
              </a:rPr>
              <a:t>          &lt;&lt; balptr &lt;&lt; endl;</a:t>
            </a:r>
          </a:p>
          <a:p>
            <a:pPr lvl="1" eaLnBrk="1" hangingPunct="1">
              <a:spcBef>
                <a:spcPct val="20000"/>
              </a:spcBef>
            </a:pPr>
            <a:endParaRPr lang="en-US" altLang="en-US" sz="2000" b="1">
              <a:latin typeface="Times New Roman" panose="02020603050405020304" pitchFamily="18" charset="0"/>
            </a:endParaRPr>
          </a:p>
          <a:p>
            <a:pPr lvl="1" eaLnBrk="1" hangingPunct="1">
              <a:spcBef>
                <a:spcPct val="20000"/>
              </a:spcBef>
            </a:pPr>
            <a:r>
              <a:rPr lang="en-US" altLang="en-US" sz="2000" b="1">
                <a:latin typeface="Times New Roman" panose="02020603050405020304" pitchFamily="18" charset="0"/>
              </a:rPr>
              <a:t>  return 0;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000" b="1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2187575" y="304800"/>
            <a:ext cx="7772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en-US" sz="3200" b="1">
                <a:solidFill>
                  <a:schemeClr val="accent2"/>
                </a:solidFill>
                <a:latin typeface="Times New Roman" panose="02020603050405020304" pitchFamily="18" charset="0"/>
              </a:rPr>
              <a:t>Pointer Operators</a:t>
            </a:r>
            <a:endParaRPr lang="en-US" altLang="en-US" sz="4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9539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Output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1905000" y="1981200"/>
            <a:ext cx="8763000" cy="4114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b="1">
                <a:solidFill>
                  <a:schemeClr val="accent2"/>
                </a:solidFill>
              </a:rPr>
              <a:t>balance is: 3200</a:t>
            </a:r>
          </a:p>
          <a:p>
            <a:pPr eaLnBrk="1" hangingPunct="1">
              <a:buFontTx/>
              <a:buNone/>
            </a:pPr>
            <a:r>
              <a:rPr lang="en-US" altLang="en-US" b="1">
                <a:solidFill>
                  <a:schemeClr val="accent2"/>
                </a:solidFill>
              </a:rPr>
              <a:t>Memory address where balance is stored is: 0012FF7C</a:t>
            </a:r>
          </a:p>
          <a:p>
            <a:pPr eaLnBrk="1" hangingPunct="1">
              <a:buFontTx/>
              <a:buNone/>
            </a:pPr>
            <a:endParaRPr lang="en-US" altLang="en-US" b="1">
              <a:solidFill>
                <a:schemeClr val="accent2"/>
              </a:solidFill>
            </a:endParaRPr>
          </a:p>
          <a:p>
            <a:pPr eaLnBrk="1" hangingPunct="1">
              <a:buFontTx/>
              <a:buNone/>
            </a:pPr>
            <a:r>
              <a:rPr lang="en-US" altLang="en-US" b="1"/>
              <a:t>(Note memory address may be different when you run it on your machine)</a:t>
            </a:r>
            <a:endParaRPr lang="en-US" altLang="en-US" b="1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5217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1828800" y="609600"/>
            <a:ext cx="83058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2800" b="1">
                <a:latin typeface="Times New Roman" panose="02020603050405020304" pitchFamily="18" charset="0"/>
              </a:rPr>
              <a:t>	value = *balptr;</a:t>
            </a:r>
          </a:p>
          <a:p>
            <a:pPr eaLnBrk="1" hangingPunct="1">
              <a:spcBef>
                <a:spcPct val="20000"/>
              </a:spcBef>
            </a:pPr>
            <a:endParaRPr lang="en-US" altLang="en-US" sz="32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3200">
                <a:latin typeface="Times New Roman" panose="02020603050405020304" pitchFamily="18" charset="0"/>
              </a:rPr>
              <a:t>The compiler transfers the proper number of bytes according to base type.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en-US" sz="32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3200">
                <a:latin typeface="Times New Roman" panose="02020603050405020304" pitchFamily="18" charset="0"/>
              </a:rPr>
              <a:t>		int *p;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3200">
                <a:latin typeface="Times New Roman" panose="02020603050405020304" pitchFamily="18" charset="0"/>
              </a:rPr>
              <a:t>		double f;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3200">
                <a:latin typeface="Times New Roman" panose="02020603050405020304" pitchFamily="18" charset="0"/>
              </a:rPr>
              <a:t>		// ...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3200">
                <a:latin typeface="Times New Roman" panose="02020603050405020304" pitchFamily="18" charset="0"/>
              </a:rPr>
              <a:t>		p = &amp;f; // ERROR</a:t>
            </a:r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2209800" y="287338"/>
            <a:ext cx="7772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en-US" sz="3200" b="1">
                <a:solidFill>
                  <a:schemeClr val="accent2"/>
                </a:solidFill>
                <a:latin typeface="Times New Roman" panose="02020603050405020304" pitchFamily="18" charset="0"/>
              </a:rPr>
              <a:t>Base Type</a:t>
            </a:r>
            <a:endParaRPr lang="en-US" altLang="en-US" sz="4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8538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1828800" y="762000"/>
            <a:ext cx="8305800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32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800">
                <a:solidFill>
                  <a:schemeClr val="accent2"/>
                </a:solidFill>
                <a:latin typeface="Times New Roman" panose="02020603050405020304" pitchFamily="18" charset="0"/>
              </a:rPr>
              <a:t>int *p;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	int x = 12;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800">
                <a:solidFill>
                  <a:schemeClr val="accent2"/>
                </a:solidFill>
                <a:latin typeface="Times New Roman" panose="02020603050405020304" pitchFamily="18" charset="0"/>
              </a:rPr>
              <a:t>	p=&amp;x;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	cout &lt;&lt; x &lt;&lt; endl;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3200">
                <a:solidFill>
                  <a:schemeClr val="accent1"/>
                </a:solidFill>
                <a:latin typeface="Times New Roman" panose="02020603050405020304" pitchFamily="18" charset="0"/>
              </a:rPr>
              <a:t>	//Assign a value to the location pointed to by p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3200">
                <a:solidFill>
                  <a:srgbClr val="FF0000"/>
                </a:solidFill>
                <a:latin typeface="Times New Roman" panose="02020603050405020304" pitchFamily="18" charset="0"/>
              </a:rPr>
              <a:t>	*p = 101;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	cout &lt;&lt; x &lt;&lt; endl;	//what is value of x ?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	cout &lt;&lt; *p &lt;&lt; endl; 	//what is value ? 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	cout &lt;&lt; p &lt;&lt; endl; 	//what is value ?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	cout &lt;&lt; &amp;x &lt;&lt; endl; 	//what is value ?</a:t>
            </a:r>
          </a:p>
        </p:txBody>
      </p:sp>
      <p:sp>
        <p:nvSpPr>
          <p:cNvPr id="24579" name="Rectangle 3"/>
          <p:cNvSpPr>
            <a:spLocks noChangeArrowheads="1"/>
          </p:cNvSpPr>
          <p:nvPr/>
        </p:nvSpPr>
        <p:spPr bwMode="auto">
          <a:xfrm>
            <a:off x="2209800" y="257175"/>
            <a:ext cx="7772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en-US" sz="3200" b="1">
                <a:solidFill>
                  <a:schemeClr val="accent2"/>
                </a:solidFill>
                <a:latin typeface="Times New Roman" panose="02020603050405020304" pitchFamily="18" charset="0"/>
              </a:rPr>
              <a:t>Assigning Values Through a Pointer</a:t>
            </a:r>
            <a:endParaRPr lang="en-US" altLang="en-US" sz="4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0898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1828800" y="762000"/>
            <a:ext cx="83058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en-US" sz="3200">
              <a:latin typeface="Times New Roman" panose="02020603050405020304" pitchFamily="18" charset="0"/>
            </a:endParaRPr>
          </a:p>
        </p:txBody>
      </p:sp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2209800" y="271463"/>
            <a:ext cx="7772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en-US" sz="3200" b="1">
                <a:solidFill>
                  <a:schemeClr val="accent2"/>
                </a:solidFill>
                <a:latin typeface="Times New Roman" panose="02020603050405020304" pitchFamily="18" charset="0"/>
              </a:rPr>
              <a:t>Assigning values through a pointer</a:t>
            </a:r>
            <a:endParaRPr lang="en-US" altLang="en-US" sz="4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2819401" y="1143000"/>
            <a:ext cx="3571875" cy="283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r>
              <a:rPr lang="en-US" altLang="en-US" sz="3600" b="1">
                <a:latin typeface="Times New Roman" panose="02020603050405020304" pitchFamily="18" charset="0"/>
              </a:rPr>
              <a:t>12</a:t>
            </a:r>
          </a:p>
          <a:p>
            <a:r>
              <a:rPr lang="en-US" altLang="en-US" sz="3600" b="1">
                <a:latin typeface="Times New Roman" panose="02020603050405020304" pitchFamily="18" charset="0"/>
              </a:rPr>
              <a:t>101</a:t>
            </a:r>
          </a:p>
          <a:p>
            <a:r>
              <a:rPr lang="en-US" altLang="en-US" sz="3600" b="1">
                <a:latin typeface="Times New Roman" panose="02020603050405020304" pitchFamily="18" charset="0"/>
              </a:rPr>
              <a:t>101</a:t>
            </a:r>
          </a:p>
          <a:p>
            <a:r>
              <a:rPr lang="en-US" altLang="en-US" sz="3600" b="1">
                <a:latin typeface="Times New Roman" panose="02020603050405020304" pitchFamily="18" charset="0"/>
              </a:rPr>
              <a:t>0012FF78</a:t>
            </a:r>
          </a:p>
          <a:p>
            <a:r>
              <a:rPr lang="en-US" altLang="en-US" sz="3600" b="1">
                <a:latin typeface="Times New Roman" panose="02020603050405020304" pitchFamily="18" charset="0"/>
              </a:rPr>
              <a:t>0012FF78</a:t>
            </a:r>
          </a:p>
        </p:txBody>
      </p:sp>
    </p:spTree>
    <p:extLst>
      <p:ext uri="{BB962C8B-B14F-4D97-AF65-F5344CB8AC3E}">
        <p14:creationId xmlns:p14="http://schemas.microsoft.com/office/powerpoint/2010/main" val="1715822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1828800" y="762000"/>
            <a:ext cx="8305800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(*p)++;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//increment value to the location pointed to by p</a:t>
            </a:r>
          </a:p>
          <a:p>
            <a:pPr eaLnBrk="1" hangingPunct="1">
              <a:spcBef>
                <a:spcPct val="20000"/>
              </a:spcBef>
            </a:pPr>
            <a:endParaRPr lang="en-US" altLang="en-US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b="1" dirty="0" err="1">
                <a:latin typeface="Times New Roman" panose="02020603050405020304" pitchFamily="18" charset="0"/>
              </a:rPr>
              <a:t>int</a:t>
            </a:r>
            <a:r>
              <a:rPr lang="en-US" altLang="en-US" b="1" dirty="0">
                <a:latin typeface="Times New Roman" panose="02020603050405020304" pitchFamily="18" charset="0"/>
              </a:rPr>
              <a:t> main()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b="1" dirty="0">
                <a:latin typeface="Times New Roman" panose="02020603050405020304" pitchFamily="18" charset="0"/>
              </a:rPr>
              <a:t>{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en-US" b="1" dirty="0">
                <a:latin typeface="Times New Roman" panose="02020603050405020304" pitchFamily="18" charset="0"/>
              </a:rPr>
              <a:t>  </a:t>
            </a:r>
            <a:r>
              <a:rPr lang="en-US" altLang="en-US" b="1" dirty="0" err="1">
                <a:latin typeface="Times New Roman" panose="02020603050405020304" pitchFamily="18" charset="0"/>
              </a:rPr>
              <a:t>int</a:t>
            </a:r>
            <a:r>
              <a:rPr lang="en-US" altLang="en-US" b="1" dirty="0">
                <a:latin typeface="Times New Roman" panose="02020603050405020304" pitchFamily="18" charset="0"/>
              </a:rPr>
              <a:t> *p, </a:t>
            </a:r>
            <a:r>
              <a:rPr lang="en-US" altLang="en-US" b="1" dirty="0" err="1">
                <a:latin typeface="Times New Roman" panose="02020603050405020304" pitchFamily="18" charset="0"/>
              </a:rPr>
              <a:t>num</a:t>
            </a:r>
            <a:r>
              <a:rPr lang="en-US" altLang="en-US" b="1" dirty="0">
                <a:latin typeface="Times New Roman" panose="02020603050405020304" pitchFamily="18" charset="0"/>
              </a:rPr>
              <a:t>;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en-US" b="1" dirty="0">
                <a:latin typeface="Times New Roman" panose="02020603050405020304" pitchFamily="18" charset="0"/>
              </a:rPr>
              <a:t>  p   = &amp;</a:t>
            </a:r>
            <a:r>
              <a:rPr lang="en-US" altLang="en-US" b="1" dirty="0" err="1">
                <a:latin typeface="Times New Roman" panose="02020603050405020304" pitchFamily="18" charset="0"/>
              </a:rPr>
              <a:t>num</a:t>
            </a:r>
            <a:r>
              <a:rPr lang="en-US" altLang="en-US" b="1" dirty="0">
                <a:latin typeface="Times New Roman" panose="02020603050405020304" pitchFamily="18" charset="0"/>
              </a:rPr>
              <a:t>;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en-US" b="1" dirty="0">
                <a:latin typeface="Times New Roman" panose="02020603050405020304" pitchFamily="18" charset="0"/>
              </a:rPr>
              <a:t>  *p = 454;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en-US" b="1" dirty="0">
                <a:latin typeface="Times New Roman" panose="02020603050405020304" pitchFamily="18" charset="0"/>
              </a:rPr>
              <a:t>  </a:t>
            </a:r>
            <a:r>
              <a:rPr lang="en-US" altLang="en-US" b="1" dirty="0" err="1">
                <a:latin typeface="Times New Roman" panose="02020603050405020304" pitchFamily="18" charset="0"/>
              </a:rPr>
              <a:t>cout</a:t>
            </a:r>
            <a:r>
              <a:rPr lang="en-US" altLang="en-US" b="1" dirty="0">
                <a:latin typeface="Times New Roman" panose="02020603050405020304" pitchFamily="18" charset="0"/>
              </a:rPr>
              <a:t> &lt;&lt; </a:t>
            </a:r>
            <a:r>
              <a:rPr lang="en-US" altLang="en-US" b="1" dirty="0" err="1">
                <a:latin typeface="Times New Roman" panose="02020603050405020304" pitchFamily="18" charset="0"/>
              </a:rPr>
              <a:t>num</a:t>
            </a:r>
            <a:r>
              <a:rPr lang="en-US" altLang="en-US" b="1" dirty="0">
                <a:latin typeface="Times New Roman" panose="02020603050405020304" pitchFamily="18" charset="0"/>
              </a:rPr>
              <a:t> &lt;&lt; ' ';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en-US" b="1" dirty="0">
                <a:latin typeface="Times New Roman" panose="02020603050405020304" pitchFamily="18" charset="0"/>
              </a:rPr>
              <a:t>  (*p)++;  </a:t>
            </a:r>
            <a:r>
              <a:rPr lang="en-US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/*	parentheses are necessary because * operator 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			has lower precedence than ++operator */</a:t>
            </a:r>
            <a:endParaRPr lang="en-US" altLang="en-US" b="1" dirty="0">
              <a:latin typeface="Times New Roman" panose="02020603050405020304" pitchFamily="18" charset="0"/>
            </a:endParaRPr>
          </a:p>
          <a:p>
            <a:pPr lvl="1" eaLnBrk="1" hangingPunct="1">
              <a:spcBef>
                <a:spcPct val="20000"/>
              </a:spcBef>
            </a:pPr>
            <a:r>
              <a:rPr lang="en-US" altLang="en-US" b="1" dirty="0">
                <a:latin typeface="Times New Roman" panose="02020603050405020304" pitchFamily="18" charset="0"/>
              </a:rPr>
              <a:t>  </a:t>
            </a:r>
            <a:r>
              <a:rPr lang="en-US" altLang="en-US" b="1" dirty="0" err="1">
                <a:latin typeface="Times New Roman" panose="02020603050405020304" pitchFamily="18" charset="0"/>
              </a:rPr>
              <a:t>cout</a:t>
            </a:r>
            <a:r>
              <a:rPr lang="en-US" altLang="en-US" b="1" dirty="0">
                <a:latin typeface="Times New Roman" panose="02020603050405020304" pitchFamily="18" charset="0"/>
              </a:rPr>
              <a:t> &lt;&lt; </a:t>
            </a:r>
            <a:r>
              <a:rPr lang="en-US" altLang="en-US" b="1" dirty="0" err="1">
                <a:latin typeface="Times New Roman" panose="02020603050405020304" pitchFamily="18" charset="0"/>
              </a:rPr>
              <a:t>num</a:t>
            </a:r>
            <a:r>
              <a:rPr lang="en-US" altLang="en-US" b="1" dirty="0">
                <a:latin typeface="Times New Roman" panose="02020603050405020304" pitchFamily="18" charset="0"/>
              </a:rPr>
              <a:t> &lt;&lt; ' ';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en-US" b="1" dirty="0">
                <a:latin typeface="Times New Roman" panose="02020603050405020304" pitchFamily="18" charset="0"/>
              </a:rPr>
              <a:t>  (*p) - -;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en-US" b="1" dirty="0">
                <a:latin typeface="Times New Roman" panose="02020603050405020304" pitchFamily="18" charset="0"/>
              </a:rPr>
              <a:t>  </a:t>
            </a:r>
            <a:r>
              <a:rPr lang="en-US" altLang="en-US" b="1" dirty="0" err="1">
                <a:latin typeface="Times New Roman" panose="02020603050405020304" pitchFamily="18" charset="0"/>
              </a:rPr>
              <a:t>cout</a:t>
            </a:r>
            <a:r>
              <a:rPr lang="en-US" altLang="en-US" b="1" dirty="0">
                <a:latin typeface="Times New Roman" panose="02020603050405020304" pitchFamily="18" charset="0"/>
              </a:rPr>
              <a:t> &lt;&lt; </a:t>
            </a:r>
            <a:r>
              <a:rPr lang="en-US" altLang="en-US" b="1" dirty="0" err="1">
                <a:latin typeface="Times New Roman" panose="02020603050405020304" pitchFamily="18" charset="0"/>
              </a:rPr>
              <a:t>num</a:t>
            </a:r>
            <a:r>
              <a:rPr lang="en-US" altLang="en-US" b="1" dirty="0">
                <a:latin typeface="Times New Roman" panose="02020603050405020304" pitchFamily="18" charset="0"/>
              </a:rPr>
              <a:t> &lt;&lt; '\n';</a:t>
            </a:r>
          </a:p>
          <a:p>
            <a:pPr lvl="1" eaLnBrk="1" hangingPunct="1">
              <a:spcBef>
                <a:spcPct val="20000"/>
              </a:spcBef>
            </a:pPr>
            <a:endParaRPr lang="en-US" altLang="en-US" b="1" dirty="0">
              <a:latin typeface="Times New Roman" panose="02020603050405020304" pitchFamily="18" charset="0"/>
            </a:endParaRPr>
          </a:p>
          <a:p>
            <a:pPr lvl="1" eaLnBrk="1" hangingPunct="1">
              <a:spcBef>
                <a:spcPct val="20000"/>
              </a:spcBef>
            </a:pPr>
            <a:r>
              <a:rPr lang="en-US" altLang="en-US" b="1" dirty="0">
                <a:latin typeface="Times New Roman" panose="02020603050405020304" pitchFamily="18" charset="0"/>
              </a:rPr>
              <a:t>  return 0; 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b="1" dirty="0">
                <a:latin typeface="Times New Roman" panose="02020603050405020304" pitchFamily="18" charset="0"/>
              </a:rPr>
              <a:t>}	</a:t>
            </a:r>
            <a:r>
              <a:rPr lang="en-US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//Output?</a:t>
            </a:r>
            <a:endParaRPr lang="en-US" altLang="en-US" dirty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27" name="Rectangle 3"/>
          <p:cNvSpPr>
            <a:spLocks noChangeArrowheads="1"/>
          </p:cNvSpPr>
          <p:nvPr/>
        </p:nvSpPr>
        <p:spPr bwMode="auto">
          <a:xfrm>
            <a:off x="2095500" y="162370"/>
            <a:ext cx="7772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en-US" sz="3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Assigning Values Through a Pointer</a:t>
            </a:r>
            <a:endParaRPr lang="en-US" altLang="en-US" sz="44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430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1828800" y="1905000"/>
            <a:ext cx="83058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en-US" sz="3600" b="1">
                <a:solidFill>
                  <a:schemeClr val="accent1"/>
                </a:solidFill>
                <a:latin typeface="Times New Roman" panose="02020603050405020304" pitchFamily="18" charset="0"/>
              </a:rPr>
              <a:t>//Output is  </a:t>
            </a:r>
            <a:r>
              <a:rPr lang="en-US" altLang="en-US" sz="3600" b="1">
                <a:solidFill>
                  <a:srgbClr val="FF0000"/>
                </a:solidFill>
                <a:latin typeface="Times New Roman" panose="02020603050405020304" pitchFamily="18" charset="0"/>
              </a:rPr>
              <a:t>454 455 454</a:t>
            </a:r>
            <a:endParaRPr lang="en-US" altLang="en-US" sz="320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2200656" y="794004"/>
            <a:ext cx="7772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en-US" sz="3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Assigning Values Through a Pointer</a:t>
            </a:r>
            <a:endParaRPr lang="en-US" altLang="en-US" sz="44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4745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57400" y="1295400"/>
            <a:ext cx="9144000" cy="1143000"/>
          </a:xfrm>
          <a:noFill/>
        </p:spPr>
        <p:txBody>
          <a:bodyPr vert="horz" lIns="92075" tIns="46038" rIns="92075" bIns="46038" rtlCol="0" anchor="b">
            <a:normAutofit/>
          </a:bodyPr>
          <a:lstStyle/>
          <a:p>
            <a:pPr eaLnBrk="1" hangingPunct="1"/>
            <a:r>
              <a:rPr lang="en-US" altLang="en-US" smtClean="0"/>
              <a:t> </a:t>
            </a:r>
            <a:r>
              <a:rPr lang="en-US" altLang="en-US" sz="4800">
                <a:solidFill>
                  <a:schemeClr val="accent2"/>
                </a:solidFill>
                <a:latin typeface="Calibri" panose="020F0502020204030204" pitchFamily="34" charset="0"/>
              </a:rPr>
              <a:t>Dynamically Allocated Memory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48100" y="4114800"/>
            <a:ext cx="5562600" cy="1771650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pPr marL="342900" indent="-342900"/>
            <a:r>
              <a:rPr lang="en-US" altLang="en-US" sz="4400">
                <a:latin typeface="Calibri" panose="020F0502020204030204" pitchFamily="34" charset="0"/>
              </a:rPr>
              <a:t>Pointer variables Stack &amp; the heap</a:t>
            </a:r>
          </a:p>
        </p:txBody>
      </p:sp>
    </p:spTree>
    <p:extLst>
      <p:ext uri="{BB962C8B-B14F-4D97-AF65-F5344CB8AC3E}">
        <p14:creationId xmlns:p14="http://schemas.microsoft.com/office/powerpoint/2010/main" val="16372295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4800">
                <a:solidFill>
                  <a:schemeClr val="accent2"/>
                </a:solidFill>
                <a:latin typeface="Calibri" panose="020F0502020204030204" pitchFamily="34" charset="0"/>
              </a:rPr>
              <a:t>Pointer Variables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1420813"/>
            <a:ext cx="7772400" cy="4114800"/>
          </a:xfrm>
        </p:spPr>
        <p:txBody>
          <a:bodyPr vert="horz" lIns="92075" tIns="46038" rIns="92075" bIns="46038" rtlCol="0">
            <a:normAutofit/>
          </a:bodyPr>
          <a:lstStyle/>
          <a:p>
            <a:pPr eaLnBrk="1" hangingPunct="1"/>
            <a:r>
              <a:rPr lang="en-US" altLang="en-US" sz="3600">
                <a:latin typeface="Calibri" panose="020F0502020204030204" pitchFamily="34" charset="0"/>
              </a:rPr>
              <a:t>a pointer is a variable which holds the address of something else</a:t>
            </a:r>
          </a:p>
          <a:p>
            <a:pPr lvl="1" eaLnBrk="1" hangingPunct="1"/>
            <a:r>
              <a:rPr lang="en-US" altLang="en-US">
                <a:latin typeface="Calibri" panose="020F0502020204030204" pitchFamily="34" charset="0"/>
              </a:rPr>
              <a:t> </a:t>
            </a:r>
            <a:r>
              <a:rPr lang="en-US" altLang="en-US" sz="3200">
                <a:latin typeface="Calibri" panose="020F0502020204030204" pitchFamily="34" charset="0"/>
              </a:rPr>
              <a:t>called </a:t>
            </a:r>
            <a:r>
              <a:rPr lang="en-US" altLang="en-US" sz="3200" b="1">
                <a:latin typeface="Calibri" panose="020F0502020204030204" pitchFamily="34" charset="0"/>
              </a:rPr>
              <a:t>indirect </a:t>
            </a:r>
            <a:r>
              <a:rPr lang="en-US" altLang="en-US" sz="3200">
                <a:latin typeface="Calibri" panose="020F0502020204030204" pitchFamily="34" charset="0"/>
              </a:rPr>
              <a:t>addressing</a:t>
            </a:r>
          </a:p>
        </p:txBody>
      </p:sp>
      <p:grpSp>
        <p:nvGrpSpPr>
          <p:cNvPr id="30724" name="Group 14"/>
          <p:cNvGrpSpPr>
            <a:grpSpLocks/>
          </p:cNvGrpSpPr>
          <p:nvPr/>
        </p:nvGrpSpPr>
        <p:grpSpPr bwMode="auto">
          <a:xfrm>
            <a:off x="2860676" y="3325813"/>
            <a:ext cx="6481763" cy="2654300"/>
            <a:chOff x="650" y="2448"/>
            <a:chExt cx="4083" cy="1672"/>
          </a:xfrm>
        </p:grpSpPr>
        <p:sp>
          <p:nvSpPr>
            <p:cNvPr id="30725" name="Rectangle 8"/>
            <p:cNvSpPr>
              <a:spLocks noChangeArrowheads="1"/>
            </p:cNvSpPr>
            <p:nvPr/>
          </p:nvSpPr>
          <p:spPr bwMode="auto">
            <a:xfrm>
              <a:off x="960" y="2448"/>
              <a:ext cx="308" cy="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9600">
                  <a:latin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30726" name="Rectangle 5"/>
            <p:cNvSpPr>
              <a:spLocks noChangeArrowheads="1"/>
            </p:cNvSpPr>
            <p:nvPr/>
          </p:nvSpPr>
          <p:spPr bwMode="auto">
            <a:xfrm>
              <a:off x="760" y="2903"/>
              <a:ext cx="616" cy="52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30727" name="Rectangle 6"/>
            <p:cNvSpPr>
              <a:spLocks noChangeArrowheads="1"/>
            </p:cNvSpPr>
            <p:nvPr/>
          </p:nvSpPr>
          <p:spPr bwMode="auto">
            <a:xfrm>
              <a:off x="3024" y="3360"/>
              <a:ext cx="1160" cy="76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6392" name="Line 7"/>
            <p:cNvSpPr>
              <a:spLocks noChangeShapeType="1"/>
            </p:cNvSpPr>
            <p:nvPr/>
          </p:nvSpPr>
          <p:spPr bwMode="auto">
            <a:xfrm>
              <a:off x="1152" y="3216"/>
              <a:ext cx="1872" cy="528"/>
            </a:xfrm>
            <a:prstGeom prst="line">
              <a:avLst/>
            </a:prstGeom>
            <a:ln>
              <a:headEnd type="none" w="sm" len="sm"/>
              <a:tailEnd type="stealth" w="med" len="lg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0729" name="Rectangle 9"/>
            <p:cNvSpPr>
              <a:spLocks noChangeArrowheads="1"/>
            </p:cNvSpPr>
            <p:nvPr/>
          </p:nvSpPr>
          <p:spPr bwMode="auto">
            <a:xfrm>
              <a:off x="650" y="2544"/>
              <a:ext cx="885" cy="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200">
                  <a:latin typeface="Calibri" panose="020F0502020204030204" pitchFamily="34" charset="0"/>
                </a:rPr>
                <a:t>pointer</a:t>
              </a:r>
            </a:p>
          </p:txBody>
        </p:sp>
        <p:sp>
          <p:nvSpPr>
            <p:cNvPr id="30730" name="Rectangle 10"/>
            <p:cNvSpPr>
              <a:spLocks noChangeArrowheads="1"/>
            </p:cNvSpPr>
            <p:nvPr/>
          </p:nvSpPr>
          <p:spPr bwMode="auto">
            <a:xfrm>
              <a:off x="2714" y="2976"/>
              <a:ext cx="2019" cy="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200">
                  <a:latin typeface="Calibri" panose="020F0502020204030204" pitchFamily="34" charset="0"/>
                </a:rPr>
                <a:t>what is pointed to</a:t>
              </a:r>
            </a:p>
          </p:txBody>
        </p:sp>
        <p:sp>
          <p:nvSpPr>
            <p:cNvPr id="30731" name="Rectangle 11"/>
            <p:cNvSpPr>
              <a:spLocks noChangeArrowheads="1"/>
            </p:cNvSpPr>
            <p:nvPr/>
          </p:nvSpPr>
          <p:spPr bwMode="auto">
            <a:xfrm>
              <a:off x="3024" y="3360"/>
              <a:ext cx="1217" cy="6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200">
                  <a:latin typeface="Calibri" panose="020F0502020204030204" pitchFamily="34" charset="0"/>
                </a:rPr>
                <a:t>a value of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200">
                  <a:latin typeface="Calibri" panose="020F0502020204030204" pitchFamily="34" charset="0"/>
                </a:rPr>
                <a:t>some type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592252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0"/>
            <a:ext cx="9144000" cy="688848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4800" dirty="0">
                <a:solidFill>
                  <a:schemeClr val="accent2"/>
                </a:solidFill>
                <a:latin typeface="Calibri" panose="020F0502020204030204" pitchFamily="34" charset="0"/>
              </a:rPr>
              <a:t>Some Uses of Pointer Variables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1981200"/>
            <a:ext cx="8153400" cy="4114800"/>
          </a:xfrm>
        </p:spPr>
        <p:txBody>
          <a:bodyPr vert="horz" lIns="92075" tIns="46038" rIns="92075" bIns="46038" rtlCol="0"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endParaRPr lang="en-US" altLang="en-US" smtClean="0">
              <a:latin typeface="Calibri" panose="020F0502020204030204" pitchFamily="34" charset="0"/>
            </a:endParaRPr>
          </a:p>
          <a:p>
            <a:pPr eaLnBrk="1" hangingPunct="1"/>
            <a:r>
              <a:rPr lang="en-US" altLang="en-US" sz="3600">
                <a:latin typeface="Calibri" panose="020F0502020204030204" pitchFamily="34" charset="0"/>
              </a:rPr>
              <a:t>dynamically (run-time) allocated arrays</a:t>
            </a:r>
          </a:p>
          <a:p>
            <a:pPr eaLnBrk="1" hangingPunct="1"/>
            <a:r>
              <a:rPr lang="en-US" altLang="en-US" sz="3600">
                <a:latin typeface="Calibri" panose="020F0502020204030204" pitchFamily="34" charset="0"/>
              </a:rPr>
              <a:t>linked data structures</a:t>
            </a:r>
          </a:p>
          <a:p>
            <a:pPr lvl="1" eaLnBrk="1" hangingPunct="1"/>
            <a:r>
              <a:rPr lang="en-US" altLang="en-US" sz="3200">
                <a:latin typeface="Calibri" panose="020F0502020204030204" pitchFamily="34" charset="0"/>
              </a:rPr>
              <a:t>linked lists</a:t>
            </a:r>
          </a:p>
        </p:txBody>
      </p:sp>
    </p:spTree>
    <p:extLst>
      <p:ext uri="{BB962C8B-B14F-4D97-AF65-F5344CB8AC3E}">
        <p14:creationId xmlns:p14="http://schemas.microsoft.com/office/powerpoint/2010/main" val="21812705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2045208" y="0"/>
            <a:ext cx="8686800" cy="765048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4800" dirty="0">
                <a:solidFill>
                  <a:schemeClr val="accent2"/>
                </a:solidFill>
                <a:latin typeface="Calibri" panose="020F0502020204030204" pitchFamily="34" charset="0"/>
              </a:rPr>
              <a:t>Declaring Pointer Variables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447800"/>
            <a:ext cx="7772400" cy="4114800"/>
          </a:xfrm>
        </p:spPr>
        <p:txBody>
          <a:bodyPr vert="horz" lIns="92075" tIns="46038" rIns="92075" bIns="46038" rtlCol="0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3600">
                <a:latin typeface="Calibri" panose="020F0502020204030204" pitchFamily="34" charset="0"/>
              </a:rPr>
              <a:t>syntax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latin typeface="Calibri" panose="020F0502020204030204" pitchFamily="34" charset="0"/>
              </a:rPr>
              <a:t> </a:t>
            </a:r>
            <a:r>
              <a:rPr lang="en-US" altLang="en-US" sz="3200">
                <a:latin typeface="Calibri" panose="020F0502020204030204" pitchFamily="34" charset="0"/>
              </a:rPr>
              <a:t>&lt;data type&gt; * &lt;pointer name&gt;;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>
                <a:latin typeface="Calibri" panose="020F0502020204030204" pitchFamily="34" charset="0"/>
              </a:rPr>
              <a:t>C++ pointers are typed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600">
                <a:latin typeface="Calibri" panose="020F0502020204030204" pitchFamily="34" charset="0"/>
              </a:rPr>
              <a:t>some examples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latin typeface="Calibri" panose="020F0502020204030204" pitchFamily="34" charset="0"/>
              </a:rPr>
              <a:t> </a:t>
            </a:r>
            <a:r>
              <a:rPr lang="en-US" altLang="en-US" smtClean="0">
                <a:latin typeface="Calibri" panose="020F0502020204030204" pitchFamily="34" charset="0"/>
              </a:rPr>
              <a:t>int * intPointer;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>
                <a:latin typeface="Calibri" panose="020F0502020204030204" pitchFamily="34" charset="0"/>
              </a:rPr>
              <a:t> float * floatPointer;</a:t>
            </a: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7848600" y="3886200"/>
            <a:ext cx="2133600" cy="1752600"/>
            <a:chOff x="3984" y="2112"/>
            <a:chExt cx="1344" cy="1104"/>
          </a:xfrm>
        </p:grpSpPr>
        <p:sp>
          <p:nvSpPr>
            <p:cNvPr id="38917" name="Rectangle 15"/>
            <p:cNvSpPr>
              <a:spLocks noChangeArrowheads="1"/>
            </p:cNvSpPr>
            <p:nvPr/>
          </p:nvSpPr>
          <p:spPr bwMode="auto">
            <a:xfrm>
              <a:off x="3984" y="2112"/>
              <a:ext cx="1344" cy="110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38918" name="Text Box 14"/>
            <p:cNvSpPr txBox="1">
              <a:spLocks noChangeArrowheads="1"/>
            </p:cNvSpPr>
            <p:nvPr/>
          </p:nvSpPr>
          <p:spPr bwMode="auto">
            <a:xfrm>
              <a:off x="3984" y="2160"/>
              <a:ext cx="1315" cy="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70C0"/>
                  </a:solidFill>
                  <a:latin typeface="Times New Roman" panose="02020603050405020304" pitchFamily="18" charset="0"/>
                </a:rPr>
                <a:t>intPointer and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70C0"/>
                  </a:solidFill>
                  <a:latin typeface="Times New Roman" panose="02020603050405020304" pitchFamily="18" charset="0"/>
                </a:rPr>
                <a:t>floatPointer are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70C0"/>
                  </a:solidFill>
                  <a:latin typeface="Times New Roman" panose="02020603050405020304" pitchFamily="18" charset="0"/>
                </a:rPr>
                <a:t>automatic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70C0"/>
                  </a:solidFill>
                  <a:latin typeface="Times New Roman" panose="02020603050405020304" pitchFamily="18" charset="0"/>
                </a:rPr>
                <a:t>variables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359972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694688" y="19050"/>
            <a:ext cx="9570720" cy="639763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4800" dirty="0">
                <a:solidFill>
                  <a:schemeClr val="accent2"/>
                </a:solidFill>
                <a:latin typeface="Calibri" panose="020F0502020204030204" pitchFamily="34" charset="0"/>
              </a:rPr>
              <a:t>Assigning a value to a pointer variable</a:t>
            </a:r>
            <a:endParaRPr lang="en-US" altLang="en-US" dirty="0" smtClean="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1866900" y="1554163"/>
            <a:ext cx="8458200" cy="4552950"/>
          </a:xfrm>
        </p:spPr>
        <p:txBody>
          <a:bodyPr vert="horz" lIns="92075" tIns="46038" rIns="92075" bIns="46038" rtlCol="0">
            <a:normAutofit/>
          </a:bodyPr>
          <a:lstStyle/>
          <a:p>
            <a:pPr eaLnBrk="1" hangingPunct="1"/>
            <a:r>
              <a:rPr lang="en-US" altLang="en-US" sz="2400" dirty="0">
                <a:latin typeface="Calibri" panose="020F0502020204030204" pitchFamily="34" charset="0"/>
              </a:rPr>
              <a:t>the value of a pointer variable is a memory address</a:t>
            </a:r>
          </a:p>
          <a:p>
            <a:pPr eaLnBrk="1" hangingPunct="1"/>
            <a:r>
              <a:rPr lang="en-US" altLang="en-US" sz="2400" dirty="0">
                <a:latin typeface="Calibri" panose="020F0502020204030204" pitchFamily="34" charset="0"/>
              </a:rPr>
              <a:t>assign address of an existing variable</a:t>
            </a:r>
          </a:p>
          <a:p>
            <a:pPr lvl="1" eaLnBrk="1" hangingPunct="1"/>
            <a:r>
              <a:rPr lang="en-US" altLang="en-US" dirty="0" err="1">
                <a:latin typeface="Calibri" panose="020F0502020204030204" pitchFamily="34" charset="0"/>
              </a:rPr>
              <a:t>int</a:t>
            </a:r>
            <a:r>
              <a:rPr lang="en-US" altLang="en-US" dirty="0">
                <a:latin typeface="Calibri" panose="020F0502020204030204" pitchFamily="34" charset="0"/>
              </a:rPr>
              <a:t> number;</a:t>
            </a:r>
          </a:p>
          <a:p>
            <a:pPr lvl="1" eaLnBrk="1" hangingPunct="1"/>
            <a:r>
              <a:rPr lang="en-US" altLang="en-US" dirty="0" err="1">
                <a:latin typeface="Calibri" panose="020F0502020204030204" pitchFamily="34" charset="0"/>
              </a:rPr>
              <a:t>int</a:t>
            </a:r>
            <a:r>
              <a:rPr lang="en-US" altLang="en-US" dirty="0">
                <a:latin typeface="Calibri" panose="020F0502020204030204" pitchFamily="34" charset="0"/>
              </a:rPr>
              <a:t> *pointer = &amp;number; </a:t>
            </a:r>
          </a:p>
          <a:p>
            <a:pPr eaLnBrk="1" hangingPunct="1"/>
            <a:r>
              <a:rPr lang="en-US" altLang="en-US" sz="2400" dirty="0">
                <a:latin typeface="Calibri" panose="020F0502020204030204" pitchFamily="34" charset="0"/>
              </a:rPr>
              <a:t>use "</a:t>
            </a:r>
            <a:r>
              <a:rPr lang="en-US" altLang="en-US" sz="2400" b="1" dirty="0">
                <a:latin typeface="Calibri" panose="020F0502020204030204" pitchFamily="34" charset="0"/>
              </a:rPr>
              <a:t>new</a:t>
            </a:r>
            <a:r>
              <a:rPr lang="en-US" altLang="en-US" sz="2400" dirty="0">
                <a:latin typeface="Calibri" panose="020F0502020204030204" pitchFamily="34" charset="0"/>
              </a:rPr>
              <a:t>" to allocate space in the heap</a:t>
            </a:r>
          </a:p>
          <a:p>
            <a:pPr lvl="1" eaLnBrk="1" hangingPunct="1"/>
            <a:r>
              <a:rPr lang="en-US" altLang="en-US" dirty="0" err="1">
                <a:latin typeface="Calibri" panose="020F0502020204030204" pitchFamily="34" charset="0"/>
              </a:rPr>
              <a:t>int</a:t>
            </a:r>
            <a:r>
              <a:rPr lang="en-US" altLang="en-US" dirty="0">
                <a:latin typeface="Calibri" panose="020F0502020204030204" pitchFamily="34" charset="0"/>
              </a:rPr>
              <a:t> *pointer = </a:t>
            </a:r>
            <a:r>
              <a:rPr lang="en-US" altLang="en-US" b="1" dirty="0">
                <a:latin typeface="Calibri" panose="020F0502020204030204" pitchFamily="34" charset="0"/>
              </a:rPr>
              <a:t>new</a:t>
            </a:r>
            <a:r>
              <a:rPr lang="en-US" altLang="en-US" dirty="0">
                <a:latin typeface="Calibri" panose="020F0502020204030204" pitchFamily="34" charset="0"/>
              </a:rPr>
              <a:t> </a:t>
            </a:r>
            <a:r>
              <a:rPr lang="en-US" altLang="en-US" dirty="0" err="1">
                <a:latin typeface="Calibri" panose="020F0502020204030204" pitchFamily="34" charset="0"/>
              </a:rPr>
              <a:t>int</a:t>
            </a:r>
            <a:r>
              <a:rPr lang="en-US" altLang="en-US" dirty="0">
                <a:latin typeface="Calibri" panose="020F0502020204030204" pitchFamily="34" charset="0"/>
              </a:rPr>
              <a:t>;</a:t>
            </a:r>
          </a:p>
          <a:p>
            <a:pPr lvl="1" eaLnBrk="1" hangingPunct="1"/>
            <a:r>
              <a:rPr lang="en-US" altLang="en-US" dirty="0">
                <a:latin typeface="Calibri" panose="020F0502020204030204" pitchFamily="34" charset="0"/>
              </a:rPr>
              <a:t>address of heap memory space allocated becomes the value of the pointer variable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4017964" y="4724400"/>
            <a:ext cx="6307137" cy="1295400"/>
            <a:chOff x="1584" y="3408"/>
            <a:chExt cx="3973" cy="816"/>
          </a:xfrm>
        </p:grpSpPr>
        <p:sp>
          <p:nvSpPr>
            <p:cNvPr id="40965" name="Rectangle 4"/>
            <p:cNvSpPr>
              <a:spLocks noChangeArrowheads="1"/>
            </p:cNvSpPr>
            <p:nvPr/>
          </p:nvSpPr>
          <p:spPr bwMode="auto">
            <a:xfrm>
              <a:off x="2314" y="3744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000">
                <a:latin typeface="Calibri" panose="020F0502020204030204" pitchFamily="34" charset="0"/>
              </a:endParaRPr>
            </a:p>
          </p:txBody>
        </p:sp>
        <p:sp>
          <p:nvSpPr>
            <p:cNvPr id="40966" name="Rectangle 5"/>
            <p:cNvSpPr>
              <a:spLocks noChangeArrowheads="1"/>
            </p:cNvSpPr>
            <p:nvPr/>
          </p:nvSpPr>
          <p:spPr bwMode="auto">
            <a:xfrm>
              <a:off x="3274" y="3792"/>
              <a:ext cx="336" cy="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000">
                <a:latin typeface="Calibri" panose="020F0502020204030204" pitchFamily="34" charset="0"/>
              </a:endParaRPr>
            </a:p>
          </p:txBody>
        </p:sp>
        <p:sp>
          <p:nvSpPr>
            <p:cNvPr id="40967" name="Text Box 8"/>
            <p:cNvSpPr txBox="1">
              <a:spLocks noChangeArrowheads="1"/>
            </p:cNvSpPr>
            <p:nvPr/>
          </p:nvSpPr>
          <p:spPr bwMode="auto">
            <a:xfrm>
              <a:off x="3360" y="3818"/>
              <a:ext cx="20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Calibri" panose="020F0502020204030204" pitchFamily="34" charset="0"/>
                </a:rPr>
                <a:t>?</a:t>
              </a:r>
            </a:p>
          </p:txBody>
        </p:sp>
        <p:sp>
          <p:nvSpPr>
            <p:cNvPr id="40968" name="Line 9"/>
            <p:cNvSpPr>
              <a:spLocks noChangeShapeType="1"/>
            </p:cNvSpPr>
            <p:nvPr/>
          </p:nvSpPr>
          <p:spPr bwMode="auto">
            <a:xfrm>
              <a:off x="2458" y="3888"/>
              <a:ext cx="81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69" name="Text Box 10"/>
            <p:cNvSpPr txBox="1">
              <a:spLocks noChangeArrowheads="1"/>
            </p:cNvSpPr>
            <p:nvPr/>
          </p:nvSpPr>
          <p:spPr bwMode="auto">
            <a:xfrm>
              <a:off x="1584" y="3744"/>
              <a:ext cx="76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Calibri" panose="020F0502020204030204" pitchFamily="34" charset="0"/>
                </a:rPr>
                <a:t>intPointer</a:t>
              </a:r>
            </a:p>
          </p:txBody>
        </p:sp>
        <p:sp>
          <p:nvSpPr>
            <p:cNvPr id="40970" name="Rectangle 11"/>
            <p:cNvSpPr>
              <a:spLocks noChangeArrowheads="1"/>
            </p:cNvSpPr>
            <p:nvPr/>
          </p:nvSpPr>
          <p:spPr bwMode="auto">
            <a:xfrm>
              <a:off x="3082" y="3648"/>
              <a:ext cx="2390" cy="576"/>
            </a:xfrm>
            <a:prstGeom prst="rect">
              <a:avLst/>
            </a:prstGeom>
            <a:noFill/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000">
                <a:latin typeface="Calibri" panose="020F0502020204030204" pitchFamily="34" charset="0"/>
              </a:endParaRPr>
            </a:p>
          </p:txBody>
        </p:sp>
        <p:sp>
          <p:nvSpPr>
            <p:cNvPr id="40971" name="Text Box 12"/>
            <p:cNvSpPr txBox="1">
              <a:spLocks noChangeArrowheads="1"/>
            </p:cNvSpPr>
            <p:nvPr/>
          </p:nvSpPr>
          <p:spPr bwMode="auto">
            <a:xfrm>
              <a:off x="4522" y="3408"/>
              <a:ext cx="103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Calibri" panose="020F0502020204030204" pitchFamily="34" charset="0"/>
                </a:rPr>
                <a:t>heap memory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809477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ChangeArrowheads="1"/>
          </p:cNvSpPr>
          <p:nvPr/>
        </p:nvSpPr>
        <p:spPr bwMode="auto">
          <a:xfrm>
            <a:off x="1981200" y="1219200"/>
            <a:ext cx="83820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What is wrong here?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800" b="1" dirty="0">
              <a:solidFill>
                <a:srgbClr val="CC0000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 dirty="0" err="1">
                <a:solidFill>
                  <a:srgbClr val="000000"/>
                </a:solidFill>
                <a:latin typeface="Calibri" panose="020F0502020204030204" pitchFamily="34" charset="0"/>
              </a:rPr>
              <a:t>int</a:t>
            </a:r>
            <a:r>
              <a:rPr lang="en-US" altLang="en-US" sz="4400" dirty="0">
                <a:solidFill>
                  <a:srgbClr val="000000"/>
                </a:solidFill>
                <a:latin typeface="Calibri" panose="020F0502020204030204" pitchFamily="34" charset="0"/>
              </a:rPr>
              <a:t> *</a:t>
            </a:r>
            <a:r>
              <a:rPr lang="en-US" altLang="en-US" sz="4400" dirty="0" err="1">
                <a:solidFill>
                  <a:srgbClr val="000000"/>
                </a:solidFill>
                <a:latin typeface="Calibri" panose="020F0502020204030204" pitchFamily="34" charset="0"/>
              </a:rPr>
              <a:t>xptr</a:t>
            </a:r>
            <a:r>
              <a:rPr lang="en-US" altLang="en-US" sz="4400" dirty="0">
                <a:solidFill>
                  <a:srgbClr val="000000"/>
                </a:solidFill>
                <a:latin typeface="Calibri" panose="020F0502020204030204" pitchFamily="34" charset="0"/>
              </a:rPr>
              <a:t> = new </a:t>
            </a:r>
            <a:r>
              <a:rPr lang="en-US" altLang="en-US" sz="4400" dirty="0" err="1">
                <a:solidFill>
                  <a:srgbClr val="000000"/>
                </a:solidFill>
                <a:latin typeface="Calibri" panose="020F0502020204030204" pitchFamily="34" charset="0"/>
              </a:rPr>
              <a:t>int</a:t>
            </a:r>
            <a:r>
              <a:rPr lang="en-US" altLang="en-US" sz="4400" dirty="0">
                <a:solidFill>
                  <a:srgbClr val="000000"/>
                </a:solidFill>
                <a:latin typeface="Calibri" panose="020F0502020204030204" pitchFamily="34" charset="0"/>
              </a:rPr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 dirty="0">
                <a:solidFill>
                  <a:srgbClr val="000000"/>
                </a:solidFill>
                <a:latin typeface="Calibri" panose="020F0502020204030204" pitchFamily="34" charset="0"/>
              </a:rPr>
              <a:t>*</a:t>
            </a:r>
            <a:r>
              <a:rPr lang="en-US" altLang="en-US" sz="4400" dirty="0" err="1">
                <a:solidFill>
                  <a:srgbClr val="000000"/>
                </a:solidFill>
                <a:latin typeface="Calibri" panose="020F0502020204030204" pitchFamily="34" charset="0"/>
              </a:rPr>
              <a:t>xptr</a:t>
            </a:r>
            <a:r>
              <a:rPr lang="en-US" altLang="en-US" sz="4400" dirty="0">
                <a:solidFill>
                  <a:srgbClr val="000000"/>
                </a:solidFill>
                <a:latin typeface="Calibri" panose="020F0502020204030204" pitchFamily="34" charset="0"/>
              </a:rPr>
              <a:t> = 73;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4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 dirty="0" err="1">
                <a:solidFill>
                  <a:srgbClr val="000000"/>
                </a:solidFill>
                <a:latin typeface="Calibri" panose="020F0502020204030204" pitchFamily="34" charset="0"/>
              </a:rPr>
              <a:t>int</a:t>
            </a:r>
            <a:r>
              <a:rPr lang="en-US" altLang="en-US" sz="4400" dirty="0">
                <a:solidFill>
                  <a:srgbClr val="000000"/>
                </a:solidFill>
                <a:latin typeface="Calibri" panose="020F0502020204030204" pitchFamily="34" charset="0"/>
              </a:rPr>
              <a:t> *x2ptr;  // </a:t>
            </a:r>
            <a:r>
              <a:rPr lang="en-US" altLang="en-US" sz="4400" dirty="0">
                <a:solidFill>
                  <a:srgbClr val="FF0000"/>
                </a:solidFill>
                <a:latin typeface="Calibri" panose="020F0502020204030204" pitchFamily="34" charset="0"/>
              </a:rPr>
              <a:t>No memory Assigned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 dirty="0">
                <a:solidFill>
                  <a:srgbClr val="000000"/>
                </a:solidFill>
                <a:latin typeface="Calibri" panose="020F0502020204030204" pitchFamily="34" charset="0"/>
              </a:rPr>
              <a:t>*x2ptr=65;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31" name="Rectangle 3"/>
          <p:cNvSpPr>
            <a:spLocks noChangeArrowheads="1"/>
          </p:cNvSpPr>
          <p:nvPr/>
        </p:nvSpPr>
        <p:spPr bwMode="auto">
          <a:xfrm>
            <a:off x="2221992" y="222504"/>
            <a:ext cx="7772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0000"/>
              </a:lnSpc>
              <a:defRPr/>
            </a:pPr>
            <a:r>
              <a:rPr lang="en-US" sz="4800" dirty="0">
                <a:solidFill>
                  <a:schemeClr val="accent2"/>
                </a:solidFill>
                <a:latin typeface="Calibri" pitchFamily="34" charset="0"/>
                <a:ea typeface="+mj-ea"/>
                <a:cs typeface="Calibri" pitchFamily="34" charset="0"/>
              </a:rPr>
              <a:t>Dynamic Allocation</a:t>
            </a:r>
          </a:p>
        </p:txBody>
      </p:sp>
    </p:spTree>
    <p:extLst>
      <p:ext uri="{BB962C8B-B14F-4D97-AF65-F5344CB8AC3E}">
        <p14:creationId xmlns:p14="http://schemas.microsoft.com/office/powerpoint/2010/main" val="3459778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ChangeArrowheads="1"/>
          </p:cNvSpPr>
          <p:nvPr/>
        </p:nvSpPr>
        <p:spPr bwMode="auto">
          <a:xfrm>
            <a:off x="1981200" y="1143000"/>
            <a:ext cx="83820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>
                <a:solidFill>
                  <a:srgbClr val="000000"/>
                </a:solidFill>
                <a:latin typeface="Calibri" panose="020F0502020204030204" pitchFamily="34" charset="0"/>
              </a:rPr>
              <a:t>int *xptr = new int;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>
                <a:solidFill>
                  <a:srgbClr val="000000"/>
                </a:solidFill>
                <a:latin typeface="Calibri" panose="020F0502020204030204" pitchFamily="34" charset="0"/>
              </a:rPr>
              <a:t>*xptr = 73;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4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>
                <a:solidFill>
                  <a:srgbClr val="000000"/>
                </a:solidFill>
                <a:latin typeface="Calibri" panose="020F0502020204030204" pitchFamily="34" charset="0"/>
              </a:rPr>
              <a:t>int *x2ptr;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>
                <a:solidFill>
                  <a:srgbClr val="000000"/>
                </a:solidFill>
                <a:latin typeface="Calibri" panose="020F0502020204030204" pitchFamily="34" charset="0"/>
              </a:rPr>
              <a:t>x2ptr = xptr;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>
                <a:solidFill>
                  <a:srgbClr val="000000"/>
                </a:solidFill>
                <a:latin typeface="Calibri" panose="020F0502020204030204" pitchFamily="34" charset="0"/>
              </a:rPr>
              <a:t>*x2ptr = 65;</a:t>
            </a:r>
          </a:p>
        </p:txBody>
      </p:sp>
      <p:sp>
        <p:nvSpPr>
          <p:cNvPr id="49155" name="Rectangle 3"/>
          <p:cNvSpPr>
            <a:spLocks noChangeArrowheads="1"/>
          </p:cNvSpPr>
          <p:nvPr/>
        </p:nvSpPr>
        <p:spPr bwMode="auto">
          <a:xfrm>
            <a:off x="2191512" y="262128"/>
            <a:ext cx="7772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0000"/>
              </a:lnSpc>
              <a:defRPr/>
            </a:pPr>
            <a:r>
              <a:rPr lang="en-US" sz="4800" dirty="0">
                <a:solidFill>
                  <a:schemeClr val="accent2"/>
                </a:solidFill>
                <a:latin typeface="Calibri" pitchFamily="34" charset="0"/>
                <a:ea typeface="+mj-ea"/>
                <a:cs typeface="Calibri" pitchFamily="34" charset="0"/>
              </a:rPr>
              <a:t>Dynamic Allocation</a:t>
            </a:r>
          </a:p>
        </p:txBody>
      </p:sp>
    </p:spTree>
    <p:extLst>
      <p:ext uri="{BB962C8B-B14F-4D97-AF65-F5344CB8AC3E}">
        <p14:creationId xmlns:p14="http://schemas.microsoft.com/office/powerpoint/2010/main" val="2286228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ChangeArrowheads="1"/>
          </p:cNvSpPr>
          <p:nvPr/>
        </p:nvSpPr>
        <p:spPr bwMode="auto">
          <a:xfrm>
            <a:off x="1981200" y="914400"/>
            <a:ext cx="83820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dirty="0">
                <a:solidFill>
                  <a:srgbClr val="CC0000"/>
                </a:solidFill>
                <a:latin typeface="Calibri" panose="020F0502020204030204" pitchFamily="34" charset="0"/>
              </a:rPr>
              <a:t>//What is wrong here?</a:t>
            </a:r>
            <a:endParaRPr lang="en-US" altLang="en-US" sz="40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</a:rPr>
              <a:t>int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</a:rPr>
              <a:t> *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</a:rPr>
              <a:t>xptr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</a:rPr>
              <a:t> = new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</a:rPr>
              <a:t>int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</a:rPr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</a:rPr>
              <a:t>*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</a:rPr>
              <a:t>xptr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</a:rPr>
              <a:t>       = 73;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</a:rPr>
              <a:t>int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</a:rPr>
              <a:t> *x2ptr = new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</a:rPr>
              <a:t>int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</a:rPr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</a:rPr>
              <a:t>x2ptr        =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</a:rPr>
              <a:t>xptr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</a:rPr>
              <a:t>;   // </a:t>
            </a:r>
            <a:r>
              <a:rPr lang="en-US" altLang="en-US" sz="4000" dirty="0">
                <a:solidFill>
                  <a:srgbClr val="FF0000"/>
                </a:solidFill>
                <a:latin typeface="Calibri" panose="020F0502020204030204" pitchFamily="34" charset="0"/>
              </a:rPr>
              <a:t>(memory leak)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</a:rPr>
              <a:t>*x2ptr      = 65;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rgbClr val="CC0000"/>
                </a:solidFill>
                <a:latin typeface="Calibri" panose="020F0502020204030204" pitchFamily="34" charset="0"/>
              </a:rPr>
              <a:t>//serious issue!!!</a:t>
            </a:r>
            <a:endParaRPr lang="en-US" altLang="en-US" sz="48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51203" name="Rectangle 3"/>
          <p:cNvSpPr>
            <a:spLocks noChangeArrowheads="1"/>
          </p:cNvSpPr>
          <p:nvPr/>
        </p:nvSpPr>
        <p:spPr bwMode="auto">
          <a:xfrm>
            <a:off x="2081784" y="192024"/>
            <a:ext cx="7772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0000"/>
              </a:lnSpc>
              <a:defRPr/>
            </a:pPr>
            <a:r>
              <a:rPr lang="en-US" sz="4800" dirty="0">
                <a:solidFill>
                  <a:schemeClr val="accent2"/>
                </a:solidFill>
                <a:latin typeface="Calibri" pitchFamily="34" charset="0"/>
                <a:ea typeface="+mj-ea"/>
                <a:cs typeface="Calibri" pitchFamily="34" charset="0"/>
              </a:rPr>
              <a:t>Dynamic Allocation</a:t>
            </a:r>
          </a:p>
        </p:txBody>
      </p:sp>
    </p:spTree>
    <p:extLst>
      <p:ext uri="{BB962C8B-B14F-4D97-AF65-F5344CB8AC3E}">
        <p14:creationId xmlns:p14="http://schemas.microsoft.com/office/powerpoint/2010/main" val="1564815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ChangeArrowheads="1"/>
          </p:cNvSpPr>
          <p:nvPr/>
        </p:nvSpPr>
        <p:spPr bwMode="auto">
          <a:xfrm>
            <a:off x="1981200" y="1143000"/>
            <a:ext cx="83820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>
                <a:solidFill>
                  <a:srgbClr val="000000"/>
                </a:solidFill>
                <a:latin typeface="Calibri" panose="020F0502020204030204" pitchFamily="34" charset="0"/>
              </a:rPr>
              <a:t>int *myptr = </a:t>
            </a:r>
            <a:r>
              <a:rPr lang="en-US" altLang="en-US" sz="4400">
                <a:solidFill>
                  <a:srgbClr val="1503F9"/>
                </a:solidFill>
                <a:latin typeface="Calibri" panose="020F0502020204030204" pitchFamily="34" charset="0"/>
              </a:rPr>
              <a:t>new int(73);</a:t>
            </a:r>
            <a:endParaRPr lang="en-US" altLang="en-US" sz="44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>
                <a:solidFill>
                  <a:srgbClr val="000000"/>
                </a:solidFill>
                <a:latin typeface="Calibri" panose="020F0502020204030204" pitchFamily="34" charset="0"/>
              </a:rPr>
              <a:t>cout &lt;&lt; *myptr;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4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>
                <a:solidFill>
                  <a:srgbClr val="1503F9"/>
                </a:solidFill>
                <a:latin typeface="Calibri" panose="020F0502020204030204" pitchFamily="34" charset="0"/>
              </a:rPr>
              <a:t>delete myptr;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400">
              <a:solidFill>
                <a:srgbClr val="1503F9"/>
              </a:solidFill>
              <a:latin typeface="Calibri" panose="020F050202020403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>
                <a:solidFill>
                  <a:srgbClr val="669900"/>
                </a:solidFill>
                <a:latin typeface="Calibri" panose="020F0502020204030204" pitchFamily="34" charset="0"/>
              </a:rPr>
              <a:t>//declaring and initializing int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40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27" name="Rectangle 3"/>
          <p:cNvSpPr>
            <a:spLocks noChangeArrowheads="1"/>
          </p:cNvSpPr>
          <p:nvPr/>
        </p:nvSpPr>
        <p:spPr bwMode="auto">
          <a:xfrm>
            <a:off x="2209800" y="685800"/>
            <a:ext cx="7772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0000"/>
              </a:lnSpc>
              <a:defRPr/>
            </a:pPr>
            <a:r>
              <a:rPr lang="en-US" sz="4800" dirty="0">
                <a:solidFill>
                  <a:schemeClr val="accent2"/>
                </a:solidFill>
                <a:latin typeface="Calibri" pitchFamily="34" charset="0"/>
                <a:ea typeface="+mj-ea"/>
                <a:cs typeface="Calibri" pitchFamily="34" charset="0"/>
              </a:rPr>
              <a:t>Dynamic Allocation</a:t>
            </a:r>
          </a:p>
        </p:txBody>
      </p:sp>
    </p:spTree>
    <p:extLst>
      <p:ext uri="{BB962C8B-B14F-4D97-AF65-F5344CB8AC3E}">
        <p14:creationId xmlns:p14="http://schemas.microsoft.com/office/powerpoint/2010/main" val="3316239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A0667282-4FC2-4337-BED8-FEB0E2DAD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8325" y="2554684"/>
            <a:ext cx="8229600" cy="1748632"/>
          </a:xfrm>
        </p:spPr>
        <p:txBody>
          <a:bodyPr>
            <a:normAutofit/>
          </a:bodyPr>
          <a:lstStyle/>
          <a:p>
            <a:pPr marL="0" indent="0" algn="ctr" eaLnBrk="1" hangingPunct="1">
              <a:buNone/>
            </a:pPr>
            <a:r>
              <a:rPr lang="en-US" altLang="en-US" sz="9600" dirty="0"/>
              <a:t>Thank You</a:t>
            </a:r>
          </a:p>
          <a:p>
            <a:pPr algn="ctr" eaLnBrk="1" hangingPunct="1"/>
            <a:endParaRPr lang="en-US" altLang="en-US" sz="5400" dirty="0"/>
          </a:p>
          <a:p>
            <a:pPr algn="ctr" eaLnBrk="1" hangingPunct="1"/>
            <a:endParaRPr lang="en-US" altLang="en-US" sz="5400" dirty="0"/>
          </a:p>
          <a:p>
            <a:pPr algn="ctr" eaLnBrk="1" hangingPunct="1"/>
            <a:endParaRPr lang="en-US" altLang="en-US" sz="5400" dirty="0"/>
          </a:p>
          <a:p>
            <a:pPr algn="ctr" eaLnBrk="1" hangingPunct="1"/>
            <a:endParaRPr lang="en-US" altLang="en-US" sz="5400" dirty="0"/>
          </a:p>
          <a:p>
            <a:pPr algn="ctr" eaLnBrk="1" hangingPunct="1"/>
            <a:endParaRPr lang="en-US" altLang="en-US" sz="5400" dirty="0"/>
          </a:p>
        </p:txBody>
      </p:sp>
    </p:spTree>
    <p:extLst>
      <p:ext uri="{BB962C8B-B14F-4D97-AF65-F5344CB8AC3E}">
        <p14:creationId xmlns:p14="http://schemas.microsoft.com/office/powerpoint/2010/main" val="391884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8381</TotalTime>
  <Words>627</Words>
  <Application>Microsoft Office PowerPoint</Application>
  <PresentationFormat>Widescreen</PresentationFormat>
  <Paragraphs>221</Paragraphs>
  <Slides>24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新細明體</vt:lpstr>
      <vt:lpstr>Arial</vt:lpstr>
      <vt:lpstr>Calibri</vt:lpstr>
      <vt:lpstr>Calibri Light</vt:lpstr>
      <vt:lpstr>Courier New</vt:lpstr>
      <vt:lpstr>Times New Roman</vt:lpstr>
      <vt:lpstr>Wingdings</vt:lpstr>
      <vt:lpstr>Office Theme</vt:lpstr>
      <vt:lpstr>Data Structure</vt:lpstr>
      <vt:lpstr>Pointer</vt:lpstr>
      <vt:lpstr>Let</vt:lpstr>
      <vt:lpstr>PowerPoint Presentation</vt:lpstr>
      <vt:lpstr>PowerPoint Presentation</vt:lpstr>
      <vt:lpstr>PowerPoint Presentation</vt:lpstr>
      <vt:lpstr>Pointers</vt:lpstr>
      <vt:lpstr>PowerPoint Presentation</vt:lpstr>
      <vt:lpstr>Output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Dynamically Allocated Memory</vt:lpstr>
      <vt:lpstr>Pointer Variables</vt:lpstr>
      <vt:lpstr>Some Uses of Pointer Variables</vt:lpstr>
      <vt:lpstr>Declaring Pointer Variables</vt:lpstr>
      <vt:lpstr>Assigning a value to a pointer variable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Fundamentals</dc:title>
  <dc:creator>mudassar raza</dc:creator>
  <cp:lastModifiedBy>Mudassar Raza</cp:lastModifiedBy>
  <cp:revision>177</cp:revision>
  <dcterms:created xsi:type="dcterms:W3CDTF">2020-05-19T18:19:41Z</dcterms:created>
  <dcterms:modified xsi:type="dcterms:W3CDTF">2026-02-25T22:11:50Z</dcterms:modified>
</cp:coreProperties>
</file>